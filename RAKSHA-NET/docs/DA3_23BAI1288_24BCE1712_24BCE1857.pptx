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Class distribution, fall_dataset.csv (rows)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0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straight</c:v>
                  </c:pt>
                  <c:pt idx="1">
                    <c:v>fall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855</c:v>
                </c:pt>
                <c:pt idx="1">
                  <c:v>570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9525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Rows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Acceleration across the straight → fall boundary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ax</c:v>
                </c:pt>
              </c:strCache>
            </c:strRef>
          </c:tx>
          <c:spPr>
            <a:solidFill>
              <a:srgbClr val="0070C0"/>
            </a:solidFill>
            <a:ln w="22225" cap="flat">
              <a:solidFill>
                <a:srgbClr val="0070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0.17</c:v>
                </c:pt>
                <c:pt idx="1">
                  <c:v>0.16</c:v>
                </c:pt>
                <c:pt idx="2">
                  <c:v>0.16</c:v>
                </c:pt>
                <c:pt idx="3">
                  <c:v>0.17</c:v>
                </c:pt>
                <c:pt idx="4">
                  <c:v>0.17</c:v>
                </c:pt>
                <c:pt idx="5">
                  <c:v>0.17</c:v>
                </c:pt>
                <c:pt idx="6">
                  <c:v>0.17</c:v>
                </c:pt>
                <c:pt idx="7">
                  <c:v>0.18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  <c:pt idx="11">
                  <c:v>0.2</c:v>
                </c:pt>
                <c:pt idx="12">
                  <c:v>0.21</c:v>
                </c:pt>
                <c:pt idx="13">
                  <c:v>0.21</c:v>
                </c:pt>
                <c:pt idx="14">
                  <c:v>0.21</c:v>
                </c:pt>
                <c:pt idx="15">
                  <c:v>0.22</c:v>
                </c:pt>
                <c:pt idx="16">
                  <c:v>0.22</c:v>
                </c:pt>
                <c:pt idx="17">
                  <c:v>0.22</c:v>
                </c:pt>
                <c:pt idx="18">
                  <c:v>0.22</c:v>
                </c:pt>
                <c:pt idx="19">
                  <c:v>0.22</c:v>
                </c:pt>
                <c:pt idx="20">
                  <c:v>0.22</c:v>
                </c:pt>
                <c:pt idx="21">
                  <c:v>0.22</c:v>
                </c:pt>
                <c:pt idx="22">
                  <c:v>0.22</c:v>
                </c:pt>
                <c:pt idx="23">
                  <c:v>0.23</c:v>
                </c:pt>
                <c:pt idx="24">
                  <c:v>0.23</c:v>
                </c:pt>
                <c:pt idx="25">
                  <c:v>0.23</c:v>
                </c:pt>
                <c:pt idx="26">
                  <c:v>0.23</c:v>
                </c:pt>
                <c:pt idx="27">
                  <c:v>0.23</c:v>
                </c:pt>
                <c:pt idx="28">
                  <c:v>0.23</c:v>
                </c:pt>
                <c:pt idx="29">
                  <c:v>0.24</c:v>
                </c:pt>
                <c:pt idx="30">
                  <c:v>0.23</c:v>
                </c:pt>
                <c:pt idx="31">
                  <c:v>0.23</c:v>
                </c:pt>
                <c:pt idx="32">
                  <c:v>0.23</c:v>
                </c:pt>
                <c:pt idx="33">
                  <c:v>0.23</c:v>
                </c:pt>
                <c:pt idx="34">
                  <c:v>0.23</c:v>
                </c:pt>
                <c:pt idx="35">
                  <c:v>0.23</c:v>
                </c:pt>
                <c:pt idx="36">
                  <c:v>0.24</c:v>
                </c:pt>
                <c:pt idx="37">
                  <c:v>0.24</c:v>
                </c:pt>
                <c:pt idx="38">
                  <c:v>0.24</c:v>
                </c:pt>
                <c:pt idx="39">
                  <c:v>0.23</c:v>
                </c:pt>
                <c:pt idx="40">
                  <c:v>0.01</c:v>
                </c:pt>
                <c:pt idx="41">
                  <c:v>-0.01</c:v>
                </c:pt>
                <c:pt idx="42">
                  <c:v>0.04</c:v>
                </c:pt>
                <c:pt idx="43">
                  <c:v>0.03</c:v>
                </c:pt>
                <c:pt idx="44">
                  <c:v>-0.02</c:v>
                </c:pt>
                <c:pt idx="45">
                  <c:v>0.03</c:v>
                </c:pt>
                <c:pt idx="46">
                  <c:v>0.04</c:v>
                </c:pt>
                <c:pt idx="47">
                  <c:v>0.04</c:v>
                </c:pt>
                <c:pt idx="48">
                  <c:v>0.04</c:v>
                </c:pt>
                <c:pt idx="49">
                  <c:v>0.04</c:v>
                </c:pt>
                <c:pt idx="50">
                  <c:v>0.04</c:v>
                </c:pt>
                <c:pt idx="51">
                  <c:v>0.04</c:v>
                </c:pt>
                <c:pt idx="52">
                  <c:v>0.05</c:v>
                </c:pt>
                <c:pt idx="53">
                  <c:v>0.05</c:v>
                </c:pt>
                <c:pt idx="54">
                  <c:v>0.05</c:v>
                </c:pt>
                <c:pt idx="55">
                  <c:v>0.05</c:v>
                </c:pt>
                <c:pt idx="56">
                  <c:v>0.04</c:v>
                </c:pt>
                <c:pt idx="57">
                  <c:v>0.04</c:v>
                </c:pt>
                <c:pt idx="58">
                  <c:v>0.03</c:v>
                </c:pt>
                <c:pt idx="59">
                  <c:v>0.04</c:v>
                </c:pt>
                <c:pt idx="60">
                  <c:v>0.03</c:v>
                </c:pt>
                <c:pt idx="61">
                  <c:v>0.03</c:v>
                </c:pt>
                <c:pt idx="62">
                  <c:v>0.03</c:v>
                </c:pt>
                <c:pt idx="63">
                  <c:v>0.03</c:v>
                </c:pt>
                <c:pt idx="64">
                  <c:v>0.03</c:v>
                </c:pt>
                <c:pt idx="65">
                  <c:v>0.05</c:v>
                </c:pt>
                <c:pt idx="66">
                  <c:v>0.03</c:v>
                </c:pt>
                <c:pt idx="67">
                  <c:v>0.02</c:v>
                </c:pt>
                <c:pt idx="68">
                  <c:v>0.02</c:v>
                </c:pt>
                <c:pt idx="69">
                  <c:v>0.02</c:v>
                </c:pt>
                <c:pt idx="70">
                  <c:v>0.02</c:v>
                </c:pt>
                <c:pt idx="71">
                  <c:v>0.04</c:v>
                </c:pt>
                <c:pt idx="72">
                  <c:v>0.03</c:v>
                </c:pt>
                <c:pt idx="73">
                  <c:v>0.02</c:v>
                </c:pt>
                <c:pt idx="74">
                  <c:v>0.02</c:v>
                </c:pt>
                <c:pt idx="75">
                  <c:v>0.02</c:v>
                </c:pt>
                <c:pt idx="76">
                  <c:v>0.02</c:v>
                </c:pt>
                <c:pt idx="77">
                  <c:v>0.03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0.01</c:v>
                </c:pt>
                <c:pt idx="82">
                  <c:v>0.02</c:v>
                </c:pt>
                <c:pt idx="83">
                  <c:v>0.02</c:v>
                </c:pt>
                <c:pt idx="84">
                  <c:v>0.02</c:v>
                </c:pt>
                <c:pt idx="85">
                  <c:v>0.02</c:v>
                </c:pt>
                <c:pt idx="86">
                  <c:v>0</c:v>
                </c:pt>
                <c:pt idx="87">
                  <c:v>0.02</c:v>
                </c:pt>
                <c:pt idx="88">
                  <c:v>0.02</c:v>
                </c:pt>
                <c:pt idx="89">
                  <c:v>0.01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ay</c:v>
                </c:pt>
              </c:strCache>
            </c:strRef>
          </c:tx>
          <c:spPr>
            <a:solidFill>
              <a:srgbClr val="ED7D31"/>
            </a:solidFill>
            <a:ln w="22225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Sheet1!$C$2:$C$91</c:f>
              <c:numCache>
                <c:formatCode>General</c:formatCode>
                <c:ptCount val="90"/>
                <c:pt idx="0">
                  <c:v>0.01</c:v>
                </c:pt>
                <c:pt idx="1">
                  <c:v>0.04</c:v>
                </c:pt>
                <c:pt idx="2">
                  <c:v>0.05</c:v>
                </c:pt>
                <c:pt idx="3">
                  <c:v>0.04</c:v>
                </c:pt>
                <c:pt idx="4">
                  <c:v>0.04</c:v>
                </c:pt>
                <c:pt idx="5">
                  <c:v>0.04</c:v>
                </c:pt>
                <c:pt idx="6">
                  <c:v>0.04</c:v>
                </c:pt>
                <c:pt idx="7">
                  <c:v>0.04</c:v>
                </c:pt>
                <c:pt idx="8">
                  <c:v>0.05</c:v>
                </c:pt>
                <c:pt idx="9">
                  <c:v>0.08</c:v>
                </c:pt>
                <c:pt idx="10">
                  <c:v>0.06</c:v>
                </c:pt>
                <c:pt idx="11">
                  <c:v>0.06</c:v>
                </c:pt>
                <c:pt idx="12">
                  <c:v>0.06</c:v>
                </c:pt>
                <c:pt idx="13">
                  <c:v>0.06</c:v>
                </c:pt>
                <c:pt idx="14">
                  <c:v>0.06</c:v>
                </c:pt>
                <c:pt idx="15">
                  <c:v>0.06</c:v>
                </c:pt>
                <c:pt idx="16">
                  <c:v>0.06</c:v>
                </c:pt>
                <c:pt idx="17">
                  <c:v>0.06</c:v>
                </c:pt>
                <c:pt idx="18">
                  <c:v>0.06</c:v>
                </c:pt>
                <c:pt idx="19">
                  <c:v>0.06</c:v>
                </c:pt>
                <c:pt idx="20">
                  <c:v>0.06</c:v>
                </c:pt>
                <c:pt idx="21">
                  <c:v>0.06</c:v>
                </c:pt>
                <c:pt idx="22">
                  <c:v>0.06</c:v>
                </c:pt>
                <c:pt idx="23">
                  <c:v>0.06</c:v>
                </c:pt>
                <c:pt idx="24">
                  <c:v>0.07</c:v>
                </c:pt>
                <c:pt idx="25">
                  <c:v>0.06</c:v>
                </c:pt>
                <c:pt idx="26">
                  <c:v>0.06</c:v>
                </c:pt>
                <c:pt idx="27">
                  <c:v>0.06</c:v>
                </c:pt>
                <c:pt idx="28">
                  <c:v>0.06</c:v>
                </c:pt>
                <c:pt idx="29">
                  <c:v>0.06</c:v>
                </c:pt>
                <c:pt idx="30">
                  <c:v>0.06</c:v>
                </c:pt>
                <c:pt idx="31">
                  <c:v>0.06</c:v>
                </c:pt>
                <c:pt idx="32">
                  <c:v>0.06</c:v>
                </c:pt>
                <c:pt idx="33">
                  <c:v>0.06</c:v>
                </c:pt>
                <c:pt idx="34">
                  <c:v>0.06</c:v>
                </c:pt>
                <c:pt idx="35">
                  <c:v>0.06</c:v>
                </c:pt>
                <c:pt idx="36">
                  <c:v>0.05</c:v>
                </c:pt>
                <c:pt idx="37">
                  <c:v>0.06</c:v>
                </c:pt>
                <c:pt idx="38">
                  <c:v>0.06</c:v>
                </c:pt>
                <c:pt idx="39">
                  <c:v>0.06</c:v>
                </c:pt>
                <c:pt idx="40">
                  <c:v>-0.01</c:v>
                </c:pt>
                <c:pt idx="41">
                  <c:v>0</c:v>
                </c:pt>
                <c:pt idx="42">
                  <c:v>0.44</c:v>
                </c:pt>
                <c:pt idx="43">
                  <c:v>0.47</c:v>
                </c:pt>
                <c:pt idx="44">
                  <c:v>0.34</c:v>
                </c:pt>
                <c:pt idx="45">
                  <c:v>0.42</c:v>
                </c:pt>
                <c:pt idx="46">
                  <c:v>0.41</c:v>
                </c:pt>
                <c:pt idx="47">
                  <c:v>0.53</c:v>
                </c:pt>
                <c:pt idx="48">
                  <c:v>0.55</c:v>
                </c:pt>
                <c:pt idx="49">
                  <c:v>0.54</c:v>
                </c:pt>
                <c:pt idx="50">
                  <c:v>0.55</c:v>
                </c:pt>
                <c:pt idx="51">
                  <c:v>0.56</c:v>
                </c:pt>
                <c:pt idx="52">
                  <c:v>0.56</c:v>
                </c:pt>
                <c:pt idx="53">
                  <c:v>0.57</c:v>
                </c:pt>
                <c:pt idx="54">
                  <c:v>0.57</c:v>
                </c:pt>
                <c:pt idx="55">
                  <c:v>0.58</c:v>
                </c:pt>
                <c:pt idx="56">
                  <c:v>0.6</c:v>
                </c:pt>
                <c:pt idx="57">
                  <c:v>0.6</c:v>
                </c:pt>
                <c:pt idx="58">
                  <c:v>0.42</c:v>
                </c:pt>
                <c:pt idx="59">
                  <c:v>0.44</c:v>
                </c:pt>
                <c:pt idx="60">
                  <c:v>0.45</c:v>
                </c:pt>
                <c:pt idx="61">
                  <c:v>0.41</c:v>
                </c:pt>
                <c:pt idx="62">
                  <c:v>0.35</c:v>
                </c:pt>
                <c:pt idx="63">
                  <c:v>0.37</c:v>
                </c:pt>
                <c:pt idx="64">
                  <c:v>0.39</c:v>
                </c:pt>
                <c:pt idx="65">
                  <c:v>0.39</c:v>
                </c:pt>
                <c:pt idx="66">
                  <c:v>0.44</c:v>
                </c:pt>
                <c:pt idx="67">
                  <c:v>0.3</c:v>
                </c:pt>
                <c:pt idx="68">
                  <c:v>0.09</c:v>
                </c:pt>
                <c:pt idx="69">
                  <c:v>0.22</c:v>
                </c:pt>
                <c:pt idx="70">
                  <c:v>0.36</c:v>
                </c:pt>
                <c:pt idx="71">
                  <c:v>0.5</c:v>
                </c:pt>
                <c:pt idx="72">
                  <c:v>0.51</c:v>
                </c:pt>
                <c:pt idx="73">
                  <c:v>0.22</c:v>
                </c:pt>
                <c:pt idx="74">
                  <c:v>0.36</c:v>
                </c:pt>
                <c:pt idx="75">
                  <c:v>0.32</c:v>
                </c:pt>
                <c:pt idx="76">
                  <c:v>0.35</c:v>
                </c:pt>
                <c:pt idx="77">
                  <c:v>0.42</c:v>
                </c:pt>
                <c:pt idx="78">
                  <c:v>0.26</c:v>
                </c:pt>
                <c:pt idx="79">
                  <c:v>0.2</c:v>
                </c:pt>
                <c:pt idx="80">
                  <c:v>0.24</c:v>
                </c:pt>
                <c:pt idx="81">
                  <c:v>0.15</c:v>
                </c:pt>
                <c:pt idx="82">
                  <c:v>0.33</c:v>
                </c:pt>
                <c:pt idx="83">
                  <c:v>0.38</c:v>
                </c:pt>
                <c:pt idx="84">
                  <c:v>0.38</c:v>
                </c:pt>
                <c:pt idx="85">
                  <c:v>0.36</c:v>
                </c:pt>
                <c:pt idx="86">
                  <c:v>0.03</c:v>
                </c:pt>
                <c:pt idx="87">
                  <c:v>0.41</c:v>
                </c:pt>
                <c:pt idx="88">
                  <c:v>0.22</c:v>
                </c:pt>
                <c:pt idx="89">
                  <c:v>0.17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az</c:v>
                </c:pt>
              </c:strCache>
            </c:strRef>
          </c:tx>
          <c:spPr>
            <a:solidFill>
              <a:srgbClr val="00B050"/>
            </a:solidFill>
            <a:ln w="22225" cap="flat">
              <a:solidFill>
                <a:srgbClr val="00B0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B050"/>
              </a:solidFill>
              <a:ln w="9525" cap="flat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Sheet1!$D$2:$D$91</c:f>
              <c:numCache>
                <c:formatCode>General</c:formatCode>
                <c:ptCount val="90"/>
                <c:pt idx="0">
                  <c:v>0.95</c:v>
                </c:pt>
                <c:pt idx="1">
                  <c:v>0.96</c:v>
                </c:pt>
                <c:pt idx="2">
                  <c:v>0.95</c:v>
                </c:pt>
                <c:pt idx="3">
                  <c:v>0.96</c:v>
                </c:pt>
                <c:pt idx="4">
                  <c:v>0.95</c:v>
                </c:pt>
                <c:pt idx="5">
                  <c:v>0.95</c:v>
                </c:pt>
                <c:pt idx="6">
                  <c:v>0.96</c:v>
                </c:pt>
                <c:pt idx="7">
                  <c:v>0.95</c:v>
                </c:pt>
                <c:pt idx="8">
                  <c:v>0.95</c:v>
                </c:pt>
                <c:pt idx="9">
                  <c:v>0.93</c:v>
                </c:pt>
                <c:pt idx="10">
                  <c:v>0.94</c:v>
                </c:pt>
                <c:pt idx="11">
                  <c:v>0.94</c:v>
                </c:pt>
                <c:pt idx="12">
                  <c:v>0.95</c:v>
                </c:pt>
                <c:pt idx="13">
                  <c:v>0.95</c:v>
                </c:pt>
                <c:pt idx="14">
                  <c:v>0.93</c:v>
                </c:pt>
                <c:pt idx="15">
                  <c:v>0.95</c:v>
                </c:pt>
                <c:pt idx="16">
                  <c:v>0.94</c:v>
                </c:pt>
                <c:pt idx="17">
                  <c:v>0.95</c:v>
                </c:pt>
                <c:pt idx="18">
                  <c:v>0.94</c:v>
                </c:pt>
                <c:pt idx="19">
                  <c:v>0.94</c:v>
                </c:pt>
                <c:pt idx="20">
                  <c:v>0.93</c:v>
                </c:pt>
                <c:pt idx="21">
                  <c:v>0.94</c:v>
                </c:pt>
                <c:pt idx="22">
                  <c:v>0.94</c:v>
                </c:pt>
                <c:pt idx="23">
                  <c:v>0.94</c:v>
                </c:pt>
                <c:pt idx="24">
                  <c:v>0.94</c:v>
                </c:pt>
                <c:pt idx="25">
                  <c:v>0.95</c:v>
                </c:pt>
                <c:pt idx="26">
                  <c:v>0.93</c:v>
                </c:pt>
                <c:pt idx="27">
                  <c:v>0.94</c:v>
                </c:pt>
                <c:pt idx="28">
                  <c:v>0.94</c:v>
                </c:pt>
                <c:pt idx="29">
                  <c:v>0.93</c:v>
                </c:pt>
                <c:pt idx="30">
                  <c:v>0.95</c:v>
                </c:pt>
                <c:pt idx="31">
                  <c:v>0.95</c:v>
                </c:pt>
                <c:pt idx="32">
                  <c:v>0.93</c:v>
                </c:pt>
                <c:pt idx="33">
                  <c:v>0.93</c:v>
                </c:pt>
                <c:pt idx="34">
                  <c:v>0.94</c:v>
                </c:pt>
                <c:pt idx="35">
                  <c:v>0.93</c:v>
                </c:pt>
                <c:pt idx="36">
                  <c:v>0.93</c:v>
                </c:pt>
                <c:pt idx="37">
                  <c:v>0.94</c:v>
                </c:pt>
                <c:pt idx="38">
                  <c:v>0.94</c:v>
                </c:pt>
                <c:pt idx="39">
                  <c:v>0.94</c:v>
                </c:pt>
                <c:pt idx="40">
                  <c:v>0.96</c:v>
                </c:pt>
                <c:pt idx="41">
                  <c:v>0.96</c:v>
                </c:pt>
                <c:pt idx="42">
                  <c:v>0.78</c:v>
                </c:pt>
                <c:pt idx="43">
                  <c:v>0.84</c:v>
                </c:pt>
                <c:pt idx="44">
                  <c:v>0.88</c:v>
                </c:pt>
                <c:pt idx="45">
                  <c:v>0.93</c:v>
                </c:pt>
                <c:pt idx="46">
                  <c:v>0.87</c:v>
                </c:pt>
                <c:pt idx="47">
                  <c:v>0.79</c:v>
                </c:pt>
                <c:pt idx="48">
                  <c:v>0.78</c:v>
                </c:pt>
                <c:pt idx="49">
                  <c:v>0.78</c:v>
                </c:pt>
                <c:pt idx="50">
                  <c:v>0.78</c:v>
                </c:pt>
                <c:pt idx="51">
                  <c:v>0.78</c:v>
                </c:pt>
                <c:pt idx="52">
                  <c:v>0.78</c:v>
                </c:pt>
                <c:pt idx="53">
                  <c:v>0.78</c:v>
                </c:pt>
                <c:pt idx="54">
                  <c:v>0.77</c:v>
                </c:pt>
                <c:pt idx="55">
                  <c:v>0.76</c:v>
                </c:pt>
                <c:pt idx="56">
                  <c:v>0.76</c:v>
                </c:pt>
                <c:pt idx="57">
                  <c:v>0.75</c:v>
                </c:pt>
                <c:pt idx="58">
                  <c:v>0.89</c:v>
                </c:pt>
                <c:pt idx="59">
                  <c:v>0.86</c:v>
                </c:pt>
                <c:pt idx="60">
                  <c:v>0.86</c:v>
                </c:pt>
                <c:pt idx="61">
                  <c:v>0.89</c:v>
                </c:pt>
                <c:pt idx="62">
                  <c:v>0.91</c:v>
                </c:pt>
                <c:pt idx="63">
                  <c:v>0.88</c:v>
                </c:pt>
                <c:pt idx="64">
                  <c:v>0.88</c:v>
                </c:pt>
                <c:pt idx="65">
                  <c:v>0.86</c:v>
                </c:pt>
                <c:pt idx="66">
                  <c:v>0.83</c:v>
                </c:pt>
                <c:pt idx="67">
                  <c:v>0.9</c:v>
                </c:pt>
                <c:pt idx="68">
                  <c:v>1.06</c:v>
                </c:pt>
                <c:pt idx="69">
                  <c:v>0.96</c:v>
                </c:pt>
                <c:pt idx="70">
                  <c:v>0.8</c:v>
                </c:pt>
                <c:pt idx="71">
                  <c:v>0.78</c:v>
                </c:pt>
                <c:pt idx="72">
                  <c:v>0.69</c:v>
                </c:pt>
                <c:pt idx="73">
                  <c:v>1.04</c:v>
                </c:pt>
                <c:pt idx="74">
                  <c:v>0.85</c:v>
                </c:pt>
                <c:pt idx="75">
                  <c:v>0.9</c:v>
                </c:pt>
                <c:pt idx="76">
                  <c:v>0.85</c:v>
                </c:pt>
                <c:pt idx="77">
                  <c:v>0.8</c:v>
                </c:pt>
                <c:pt idx="78">
                  <c:v>0.92</c:v>
                </c:pt>
                <c:pt idx="79">
                  <c:v>0.95</c:v>
                </c:pt>
                <c:pt idx="80">
                  <c:v>0.91</c:v>
                </c:pt>
                <c:pt idx="81">
                  <c:v>0.96</c:v>
                </c:pt>
                <c:pt idx="82">
                  <c:v>0.89</c:v>
                </c:pt>
                <c:pt idx="83">
                  <c:v>0.79</c:v>
                </c:pt>
                <c:pt idx="84">
                  <c:v>0.88</c:v>
                </c:pt>
                <c:pt idx="85">
                  <c:v>0.9</c:v>
                </c:pt>
                <c:pt idx="86">
                  <c:v>1.13</c:v>
                </c:pt>
                <c:pt idx="87">
                  <c:v>0.84</c:v>
                </c:pt>
                <c:pt idx="88">
                  <c:v>0.97</c:v>
                </c:pt>
                <c:pt idx="89">
                  <c:v>1.05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050" b="0" i="0" u="none" strike="noStrike">
                    <a:solidFill>
                      <a:srgbClr val="000000"/>
                    </a:solidFill>
                    <a:latin typeface="Times New Roman"/>
                  </a:rPr>
                  <a:t>Row index in fall_dataset.csv (rows 815–854 straight, 855–904 fall)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Acceleration (g)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Angular rate across the same rows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gx</c:v>
                </c:pt>
              </c:strCache>
            </c:strRef>
          </c:tx>
          <c:spPr>
            <a:solidFill>
              <a:srgbClr val="0070C0"/>
            </a:solidFill>
            <a:ln w="22225" cap="flat">
              <a:solidFill>
                <a:srgbClr val="0070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70C0"/>
              </a:solidFill>
              <a:ln w="9525" cap="flat">
                <a:solidFill>
                  <a:srgbClr val="0070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Sheet1!$B$2:$B$91</c:f>
              <c:numCache>
                <c:formatCode>General</c:formatCode>
                <c:ptCount val="90"/>
                <c:pt idx="0">
                  <c:v>-1.39</c:v>
                </c:pt>
                <c:pt idx="1">
                  <c:v>-1.1</c:v>
                </c:pt>
                <c:pt idx="2">
                  <c:v>-2.82</c:v>
                </c:pt>
                <c:pt idx="3">
                  <c:v>-1.93</c:v>
                </c:pt>
                <c:pt idx="4">
                  <c:v>-2.6</c:v>
                </c:pt>
                <c:pt idx="5">
                  <c:v>-0.6</c:v>
                </c:pt>
                <c:pt idx="6">
                  <c:v>-2.48</c:v>
                </c:pt>
                <c:pt idx="7">
                  <c:v>-1.29</c:v>
                </c:pt>
                <c:pt idx="8">
                  <c:v>-5.75</c:v>
                </c:pt>
                <c:pt idx="9">
                  <c:v>-2.21</c:v>
                </c:pt>
                <c:pt idx="10">
                  <c:v>-2.22</c:v>
                </c:pt>
                <c:pt idx="11">
                  <c:v>-2.02</c:v>
                </c:pt>
                <c:pt idx="12">
                  <c:v>-0.86</c:v>
                </c:pt>
                <c:pt idx="13">
                  <c:v>-2.51</c:v>
                </c:pt>
                <c:pt idx="14">
                  <c:v>-2.74</c:v>
                </c:pt>
                <c:pt idx="15">
                  <c:v>-2.6</c:v>
                </c:pt>
                <c:pt idx="16">
                  <c:v>-2.39</c:v>
                </c:pt>
                <c:pt idx="17">
                  <c:v>-3.31</c:v>
                </c:pt>
                <c:pt idx="18">
                  <c:v>-2.43</c:v>
                </c:pt>
                <c:pt idx="19">
                  <c:v>-1.76</c:v>
                </c:pt>
                <c:pt idx="20">
                  <c:v>-1.98</c:v>
                </c:pt>
                <c:pt idx="21">
                  <c:v>-2.65</c:v>
                </c:pt>
                <c:pt idx="22">
                  <c:v>-2.56</c:v>
                </c:pt>
                <c:pt idx="23">
                  <c:v>-1.92</c:v>
                </c:pt>
                <c:pt idx="24">
                  <c:v>-1.42</c:v>
                </c:pt>
                <c:pt idx="25">
                  <c:v>-1.87</c:v>
                </c:pt>
                <c:pt idx="26">
                  <c:v>-2.32</c:v>
                </c:pt>
                <c:pt idx="27">
                  <c:v>-2.39</c:v>
                </c:pt>
                <c:pt idx="28">
                  <c:v>-3.2</c:v>
                </c:pt>
                <c:pt idx="29">
                  <c:v>-3.15</c:v>
                </c:pt>
                <c:pt idx="30">
                  <c:v>-3.01</c:v>
                </c:pt>
                <c:pt idx="31">
                  <c:v>-2.76</c:v>
                </c:pt>
                <c:pt idx="32">
                  <c:v>-1.73</c:v>
                </c:pt>
                <c:pt idx="33">
                  <c:v>-2.85</c:v>
                </c:pt>
                <c:pt idx="34">
                  <c:v>-2.74</c:v>
                </c:pt>
                <c:pt idx="35">
                  <c:v>-2.88</c:v>
                </c:pt>
                <c:pt idx="36">
                  <c:v>-1.76</c:v>
                </c:pt>
                <c:pt idx="37">
                  <c:v>-2.79</c:v>
                </c:pt>
                <c:pt idx="38">
                  <c:v>-1.52</c:v>
                </c:pt>
                <c:pt idx="39">
                  <c:v>-3.82</c:v>
                </c:pt>
                <c:pt idx="40">
                  <c:v>-2.44</c:v>
                </c:pt>
                <c:pt idx="41">
                  <c:v>0.64</c:v>
                </c:pt>
                <c:pt idx="42">
                  <c:v>-21.44</c:v>
                </c:pt>
                <c:pt idx="43">
                  <c:v>6.2</c:v>
                </c:pt>
                <c:pt idx="44">
                  <c:v>-6.16</c:v>
                </c:pt>
                <c:pt idx="45">
                  <c:v>10.36</c:v>
                </c:pt>
                <c:pt idx="46">
                  <c:v>2.85</c:v>
                </c:pt>
                <c:pt idx="47">
                  <c:v>0.8</c:v>
                </c:pt>
                <c:pt idx="48">
                  <c:v>0.25</c:v>
                </c:pt>
                <c:pt idx="49">
                  <c:v>2.54</c:v>
                </c:pt>
                <c:pt idx="50">
                  <c:v>-2.34</c:v>
                </c:pt>
                <c:pt idx="51">
                  <c:v>-0.4</c:v>
                </c:pt>
                <c:pt idx="52">
                  <c:v>-3.7</c:v>
                </c:pt>
                <c:pt idx="53">
                  <c:v>-2.05</c:v>
                </c:pt>
                <c:pt idx="54">
                  <c:v>-1.82</c:v>
                </c:pt>
                <c:pt idx="55">
                  <c:v>-1.73</c:v>
                </c:pt>
                <c:pt idx="56">
                  <c:v>-2.62</c:v>
                </c:pt>
                <c:pt idx="57">
                  <c:v>-4.85</c:v>
                </c:pt>
                <c:pt idx="58">
                  <c:v>-18.95</c:v>
                </c:pt>
                <c:pt idx="59">
                  <c:v>1.55</c:v>
                </c:pt>
                <c:pt idx="60">
                  <c:v>-3.7</c:v>
                </c:pt>
                <c:pt idx="61">
                  <c:v>-11.98</c:v>
                </c:pt>
                <c:pt idx="62">
                  <c:v>-11.48</c:v>
                </c:pt>
                <c:pt idx="63">
                  <c:v>-9.96</c:v>
                </c:pt>
                <c:pt idx="64">
                  <c:v>5.08</c:v>
                </c:pt>
                <c:pt idx="65">
                  <c:v>-4.5</c:v>
                </c:pt>
                <c:pt idx="66">
                  <c:v>-2.23</c:v>
                </c:pt>
                <c:pt idx="67">
                  <c:v>-32.1</c:v>
                </c:pt>
                <c:pt idx="68">
                  <c:v>46.07</c:v>
                </c:pt>
                <c:pt idx="69">
                  <c:v>-11.26</c:v>
                </c:pt>
                <c:pt idx="70">
                  <c:v>-26.1</c:v>
                </c:pt>
                <c:pt idx="71">
                  <c:v>22.37</c:v>
                </c:pt>
                <c:pt idx="72">
                  <c:v>-19.41</c:v>
                </c:pt>
                <c:pt idx="73">
                  <c:v>-13.48</c:v>
                </c:pt>
                <c:pt idx="74">
                  <c:v>-51.78</c:v>
                </c:pt>
                <c:pt idx="75">
                  <c:v>62.81</c:v>
                </c:pt>
                <c:pt idx="76">
                  <c:v>-7.31</c:v>
                </c:pt>
                <c:pt idx="77">
                  <c:v>-29.83</c:v>
                </c:pt>
                <c:pt idx="78">
                  <c:v>39.84</c:v>
                </c:pt>
                <c:pt idx="79">
                  <c:v>-17.24</c:v>
                </c:pt>
                <c:pt idx="80">
                  <c:v>65.35</c:v>
                </c:pt>
                <c:pt idx="81">
                  <c:v>-27.5</c:v>
                </c:pt>
                <c:pt idx="82">
                  <c:v>-16.98</c:v>
                </c:pt>
                <c:pt idx="83">
                  <c:v>32.17</c:v>
                </c:pt>
                <c:pt idx="84">
                  <c:v>27.92</c:v>
                </c:pt>
                <c:pt idx="85">
                  <c:v>3.02</c:v>
                </c:pt>
                <c:pt idx="86">
                  <c:v>8</c:v>
                </c:pt>
                <c:pt idx="87">
                  <c:v>16.17</c:v>
                </c:pt>
                <c:pt idx="88">
                  <c:v>5.13</c:v>
                </c:pt>
                <c:pt idx="89">
                  <c:v>0.08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gy</c:v>
                </c:pt>
              </c:strCache>
            </c:strRef>
          </c:tx>
          <c:spPr>
            <a:solidFill>
              <a:srgbClr val="ED7D31"/>
            </a:solidFill>
            <a:ln w="22225" cap="flat">
              <a:solidFill>
                <a:srgbClr val="ED7D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Sheet1!$C$2:$C$91</c:f>
              <c:numCache>
                <c:formatCode>General</c:formatCode>
                <c:ptCount val="90"/>
                <c:pt idx="0">
                  <c:v>0.14</c:v>
                </c:pt>
                <c:pt idx="1">
                  <c:v>1.2</c:v>
                </c:pt>
                <c:pt idx="2">
                  <c:v>-0.91</c:v>
                </c:pt>
                <c:pt idx="3">
                  <c:v>0.75</c:v>
                </c:pt>
                <c:pt idx="4">
                  <c:v>-0.13</c:v>
                </c:pt>
                <c:pt idx="5">
                  <c:v>-0.09</c:v>
                </c:pt>
                <c:pt idx="6">
                  <c:v>-0.37</c:v>
                </c:pt>
                <c:pt idx="7">
                  <c:v>-0.19</c:v>
                </c:pt>
                <c:pt idx="8">
                  <c:v>-0.56</c:v>
                </c:pt>
                <c:pt idx="9">
                  <c:v>-0.98</c:v>
                </c:pt>
                <c:pt idx="10">
                  <c:v>0.58</c:v>
                </c:pt>
                <c:pt idx="11">
                  <c:v>-2.52</c:v>
                </c:pt>
                <c:pt idx="12">
                  <c:v>0.85</c:v>
                </c:pt>
                <c:pt idx="13">
                  <c:v>-0.34</c:v>
                </c:pt>
                <c:pt idx="14">
                  <c:v>-0.45</c:v>
                </c:pt>
                <c:pt idx="15">
                  <c:v>0.31</c:v>
                </c:pt>
                <c:pt idx="16">
                  <c:v>-0.82</c:v>
                </c:pt>
                <c:pt idx="17">
                  <c:v>-0.67</c:v>
                </c:pt>
                <c:pt idx="18">
                  <c:v>0.85</c:v>
                </c:pt>
                <c:pt idx="19">
                  <c:v>-0.16</c:v>
                </c:pt>
                <c:pt idx="20">
                  <c:v>0.69</c:v>
                </c:pt>
                <c:pt idx="21">
                  <c:v>0.08</c:v>
                </c:pt>
                <c:pt idx="22">
                  <c:v>-0.03</c:v>
                </c:pt>
                <c:pt idx="23">
                  <c:v>0.37</c:v>
                </c:pt>
                <c:pt idx="24">
                  <c:v>0.09</c:v>
                </c:pt>
                <c:pt idx="25">
                  <c:v>0.57</c:v>
                </c:pt>
                <c:pt idx="26">
                  <c:v>0.35</c:v>
                </c:pt>
                <c:pt idx="27">
                  <c:v>-0.25</c:v>
                </c:pt>
                <c:pt idx="28">
                  <c:v>-0.22</c:v>
                </c:pt>
                <c:pt idx="29">
                  <c:v>-0.02</c:v>
                </c:pt>
                <c:pt idx="30">
                  <c:v>-0.73</c:v>
                </c:pt>
                <c:pt idx="31">
                  <c:v>-0.26</c:v>
                </c:pt>
                <c:pt idx="32">
                  <c:v>0.49</c:v>
                </c:pt>
                <c:pt idx="33">
                  <c:v>-0.66</c:v>
                </c:pt>
                <c:pt idx="34">
                  <c:v>-0.05</c:v>
                </c:pt>
                <c:pt idx="35">
                  <c:v>-0.21</c:v>
                </c:pt>
                <c:pt idx="36">
                  <c:v>0.76</c:v>
                </c:pt>
                <c:pt idx="37">
                  <c:v>-0.08</c:v>
                </c:pt>
                <c:pt idx="38">
                  <c:v>0.3</c:v>
                </c:pt>
                <c:pt idx="39">
                  <c:v>1.31</c:v>
                </c:pt>
                <c:pt idx="40">
                  <c:v>0.25</c:v>
                </c:pt>
                <c:pt idx="41">
                  <c:v>-2.16</c:v>
                </c:pt>
                <c:pt idx="42">
                  <c:v>0.43</c:v>
                </c:pt>
                <c:pt idx="43">
                  <c:v>-0.42</c:v>
                </c:pt>
                <c:pt idx="44">
                  <c:v>14.58</c:v>
                </c:pt>
                <c:pt idx="45">
                  <c:v>0.78</c:v>
                </c:pt>
                <c:pt idx="46">
                  <c:v>0.24</c:v>
                </c:pt>
                <c:pt idx="47">
                  <c:v>-0.37</c:v>
                </c:pt>
                <c:pt idx="48">
                  <c:v>-0.52</c:v>
                </c:pt>
                <c:pt idx="49">
                  <c:v>-0.02</c:v>
                </c:pt>
                <c:pt idx="50">
                  <c:v>0.25</c:v>
                </c:pt>
                <c:pt idx="51">
                  <c:v>-0.07</c:v>
                </c:pt>
                <c:pt idx="52">
                  <c:v>-0.26</c:v>
                </c:pt>
                <c:pt idx="53">
                  <c:v>0.01</c:v>
                </c:pt>
                <c:pt idx="54">
                  <c:v>0.06</c:v>
                </c:pt>
                <c:pt idx="55">
                  <c:v>-0.19</c:v>
                </c:pt>
                <c:pt idx="56">
                  <c:v>0.13</c:v>
                </c:pt>
                <c:pt idx="57">
                  <c:v>0.04</c:v>
                </c:pt>
                <c:pt idx="58">
                  <c:v>0.34</c:v>
                </c:pt>
                <c:pt idx="59">
                  <c:v>-0.17</c:v>
                </c:pt>
                <c:pt idx="60">
                  <c:v>0.06</c:v>
                </c:pt>
                <c:pt idx="61">
                  <c:v>0.55</c:v>
                </c:pt>
                <c:pt idx="62">
                  <c:v>0.63</c:v>
                </c:pt>
                <c:pt idx="63">
                  <c:v>-0.1</c:v>
                </c:pt>
                <c:pt idx="64">
                  <c:v>-0.4</c:v>
                </c:pt>
                <c:pt idx="65">
                  <c:v>0.65</c:v>
                </c:pt>
                <c:pt idx="66">
                  <c:v>0.05</c:v>
                </c:pt>
                <c:pt idx="67">
                  <c:v>0.61</c:v>
                </c:pt>
                <c:pt idx="68">
                  <c:v>-1.86</c:v>
                </c:pt>
                <c:pt idx="69">
                  <c:v>0.05</c:v>
                </c:pt>
                <c:pt idx="70">
                  <c:v>0.54</c:v>
                </c:pt>
                <c:pt idx="71">
                  <c:v>-0.58</c:v>
                </c:pt>
                <c:pt idx="72">
                  <c:v>1.4</c:v>
                </c:pt>
                <c:pt idx="73">
                  <c:v>0.18</c:v>
                </c:pt>
                <c:pt idx="74">
                  <c:v>1.68</c:v>
                </c:pt>
                <c:pt idx="75">
                  <c:v>-2.4</c:v>
                </c:pt>
                <c:pt idx="76">
                  <c:v>0.44</c:v>
                </c:pt>
                <c:pt idx="77">
                  <c:v>1.1</c:v>
                </c:pt>
                <c:pt idx="78">
                  <c:v>-0.69</c:v>
                </c:pt>
                <c:pt idx="79">
                  <c:v>0.15</c:v>
                </c:pt>
                <c:pt idx="80">
                  <c:v>-1.18</c:v>
                </c:pt>
                <c:pt idx="81">
                  <c:v>0.47</c:v>
                </c:pt>
                <c:pt idx="82">
                  <c:v>0.23</c:v>
                </c:pt>
                <c:pt idx="83">
                  <c:v>-0.34</c:v>
                </c:pt>
                <c:pt idx="84">
                  <c:v>-0.34</c:v>
                </c:pt>
                <c:pt idx="85">
                  <c:v>-0.5</c:v>
                </c:pt>
                <c:pt idx="86">
                  <c:v>1.88</c:v>
                </c:pt>
                <c:pt idx="87">
                  <c:v>-0.23</c:v>
                </c:pt>
                <c:pt idx="88">
                  <c:v>0.16</c:v>
                </c:pt>
                <c:pt idx="89">
                  <c:v>0.11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gz</c:v>
                </c:pt>
              </c:strCache>
            </c:strRef>
          </c:tx>
          <c:spPr>
            <a:solidFill>
              <a:srgbClr val="00B050"/>
            </a:solidFill>
            <a:ln w="22225" cap="flat">
              <a:solidFill>
                <a:srgbClr val="00B0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B050"/>
              </a:solidFill>
              <a:ln w="9525" cap="flat">
                <a:solidFill>
                  <a:srgbClr val="00B0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Sheet1!$A$2:$A$91</c:f>
              <c:multiLvlStrCache>
                <c:ptCount val="90"/>
                <c:lvl>
                  <c:pt idx="0">
                    <c:v>815</c:v>
                  </c:pt>
                  <c:pt idx="1">
                    <c:v>816</c:v>
                  </c:pt>
                  <c:pt idx="2">
                    <c:v>817</c:v>
                  </c:pt>
                  <c:pt idx="3">
                    <c:v>818</c:v>
                  </c:pt>
                  <c:pt idx="4">
                    <c:v>819</c:v>
                  </c:pt>
                  <c:pt idx="5">
                    <c:v>820</c:v>
                  </c:pt>
                  <c:pt idx="6">
                    <c:v>821</c:v>
                  </c:pt>
                  <c:pt idx="7">
                    <c:v>822</c:v>
                  </c:pt>
                  <c:pt idx="8">
                    <c:v>823</c:v>
                  </c:pt>
                  <c:pt idx="9">
                    <c:v>824</c:v>
                  </c:pt>
                  <c:pt idx="10">
                    <c:v>825</c:v>
                  </c:pt>
                  <c:pt idx="11">
                    <c:v>826</c:v>
                  </c:pt>
                  <c:pt idx="12">
                    <c:v>827</c:v>
                  </c:pt>
                  <c:pt idx="13">
                    <c:v>828</c:v>
                  </c:pt>
                  <c:pt idx="14">
                    <c:v>829</c:v>
                  </c:pt>
                  <c:pt idx="15">
                    <c:v>830</c:v>
                  </c:pt>
                  <c:pt idx="16">
                    <c:v>831</c:v>
                  </c:pt>
                  <c:pt idx="17">
                    <c:v>832</c:v>
                  </c:pt>
                  <c:pt idx="18">
                    <c:v>833</c:v>
                  </c:pt>
                  <c:pt idx="19">
                    <c:v>834</c:v>
                  </c:pt>
                  <c:pt idx="20">
                    <c:v>835</c:v>
                  </c:pt>
                  <c:pt idx="21">
                    <c:v>836</c:v>
                  </c:pt>
                  <c:pt idx="22">
                    <c:v>837</c:v>
                  </c:pt>
                  <c:pt idx="23">
                    <c:v>838</c:v>
                  </c:pt>
                  <c:pt idx="24">
                    <c:v>839</c:v>
                  </c:pt>
                  <c:pt idx="25">
                    <c:v>840</c:v>
                  </c:pt>
                  <c:pt idx="26">
                    <c:v>841</c:v>
                  </c:pt>
                  <c:pt idx="27">
                    <c:v>842</c:v>
                  </c:pt>
                  <c:pt idx="28">
                    <c:v>843</c:v>
                  </c:pt>
                  <c:pt idx="29">
                    <c:v>844</c:v>
                  </c:pt>
                  <c:pt idx="30">
                    <c:v>845</c:v>
                  </c:pt>
                  <c:pt idx="31">
                    <c:v>846</c:v>
                  </c:pt>
                  <c:pt idx="32">
                    <c:v>847</c:v>
                  </c:pt>
                  <c:pt idx="33">
                    <c:v>848</c:v>
                  </c:pt>
                  <c:pt idx="34">
                    <c:v>849</c:v>
                  </c:pt>
                  <c:pt idx="35">
                    <c:v>850</c:v>
                  </c:pt>
                  <c:pt idx="36">
                    <c:v>851</c:v>
                  </c:pt>
                  <c:pt idx="37">
                    <c:v>852</c:v>
                  </c:pt>
                  <c:pt idx="38">
                    <c:v>853</c:v>
                  </c:pt>
                  <c:pt idx="39">
                    <c:v>854</c:v>
                  </c:pt>
                  <c:pt idx="40">
                    <c:v>855</c:v>
                  </c:pt>
                  <c:pt idx="41">
                    <c:v>856</c:v>
                  </c:pt>
                  <c:pt idx="42">
                    <c:v>857</c:v>
                  </c:pt>
                  <c:pt idx="43">
                    <c:v>858</c:v>
                  </c:pt>
                  <c:pt idx="44">
                    <c:v>859</c:v>
                  </c:pt>
                  <c:pt idx="45">
                    <c:v>860</c:v>
                  </c:pt>
                  <c:pt idx="46">
                    <c:v>861</c:v>
                  </c:pt>
                  <c:pt idx="47">
                    <c:v>862</c:v>
                  </c:pt>
                  <c:pt idx="48">
                    <c:v>863</c:v>
                  </c:pt>
                  <c:pt idx="49">
                    <c:v>864</c:v>
                  </c:pt>
                  <c:pt idx="50">
                    <c:v>865</c:v>
                  </c:pt>
                  <c:pt idx="51">
                    <c:v>866</c:v>
                  </c:pt>
                  <c:pt idx="52">
                    <c:v>867</c:v>
                  </c:pt>
                  <c:pt idx="53">
                    <c:v>868</c:v>
                  </c:pt>
                  <c:pt idx="54">
                    <c:v>869</c:v>
                  </c:pt>
                  <c:pt idx="55">
                    <c:v>870</c:v>
                  </c:pt>
                  <c:pt idx="56">
                    <c:v>871</c:v>
                  </c:pt>
                  <c:pt idx="57">
                    <c:v>872</c:v>
                  </c:pt>
                  <c:pt idx="58">
                    <c:v>873</c:v>
                  </c:pt>
                  <c:pt idx="59">
                    <c:v>874</c:v>
                  </c:pt>
                  <c:pt idx="60">
                    <c:v>875</c:v>
                  </c:pt>
                  <c:pt idx="61">
                    <c:v>876</c:v>
                  </c:pt>
                  <c:pt idx="62">
                    <c:v>877</c:v>
                  </c:pt>
                  <c:pt idx="63">
                    <c:v>878</c:v>
                  </c:pt>
                  <c:pt idx="64">
                    <c:v>879</c:v>
                  </c:pt>
                  <c:pt idx="65">
                    <c:v>880</c:v>
                  </c:pt>
                  <c:pt idx="66">
                    <c:v>881</c:v>
                  </c:pt>
                  <c:pt idx="67">
                    <c:v>882</c:v>
                  </c:pt>
                  <c:pt idx="68">
                    <c:v>883</c:v>
                  </c:pt>
                  <c:pt idx="69">
                    <c:v>884</c:v>
                  </c:pt>
                  <c:pt idx="70">
                    <c:v>885</c:v>
                  </c:pt>
                  <c:pt idx="71">
                    <c:v>886</c:v>
                  </c:pt>
                  <c:pt idx="72">
                    <c:v>887</c:v>
                  </c:pt>
                  <c:pt idx="73">
                    <c:v>888</c:v>
                  </c:pt>
                  <c:pt idx="74">
                    <c:v>889</c:v>
                  </c:pt>
                  <c:pt idx="75">
                    <c:v>890</c:v>
                  </c:pt>
                  <c:pt idx="76">
                    <c:v>891</c:v>
                  </c:pt>
                  <c:pt idx="77">
                    <c:v>892</c:v>
                  </c:pt>
                  <c:pt idx="78">
                    <c:v>893</c:v>
                  </c:pt>
                  <c:pt idx="79">
                    <c:v>894</c:v>
                  </c:pt>
                  <c:pt idx="80">
                    <c:v>895</c:v>
                  </c:pt>
                  <c:pt idx="81">
                    <c:v>896</c:v>
                  </c:pt>
                  <c:pt idx="82">
                    <c:v>897</c:v>
                  </c:pt>
                  <c:pt idx="83">
                    <c:v>898</c:v>
                  </c:pt>
                  <c:pt idx="84">
                    <c:v>899</c:v>
                  </c:pt>
                  <c:pt idx="85">
                    <c:v>900</c:v>
                  </c:pt>
                  <c:pt idx="86">
                    <c:v>901</c:v>
                  </c:pt>
                  <c:pt idx="87">
                    <c:v>902</c:v>
                  </c:pt>
                  <c:pt idx="88">
                    <c:v>903</c:v>
                  </c:pt>
                  <c:pt idx="89">
                    <c:v>904</c:v>
                  </c:pt>
                </c:lvl>
              </c:multiLvlStrCache>
            </c:multiLvlStrRef>
          </c:cat>
          <c:val>
            <c:numRef>
              <c:f>Sheet1!$D$2:$D$91</c:f>
              <c:numCache>
                <c:formatCode>General</c:formatCode>
                <c:ptCount val="90"/>
                <c:pt idx="0">
                  <c:v>-4.24</c:v>
                </c:pt>
                <c:pt idx="1">
                  <c:v>-4.17</c:v>
                </c:pt>
                <c:pt idx="2">
                  <c:v>-5.46</c:v>
                </c:pt>
                <c:pt idx="3">
                  <c:v>-4.99</c:v>
                </c:pt>
                <c:pt idx="4">
                  <c:v>-6.21</c:v>
                </c:pt>
                <c:pt idx="5">
                  <c:v>-5.85</c:v>
                </c:pt>
                <c:pt idx="6">
                  <c:v>-4.97</c:v>
                </c:pt>
                <c:pt idx="7">
                  <c:v>-5.31</c:v>
                </c:pt>
                <c:pt idx="8">
                  <c:v>-4.63</c:v>
                </c:pt>
                <c:pt idx="9">
                  <c:v>-2.79</c:v>
                </c:pt>
                <c:pt idx="10">
                  <c:v>-4.66</c:v>
                </c:pt>
                <c:pt idx="11">
                  <c:v>-7.82</c:v>
                </c:pt>
                <c:pt idx="12">
                  <c:v>-5.08</c:v>
                </c:pt>
                <c:pt idx="13">
                  <c:v>-5.09</c:v>
                </c:pt>
                <c:pt idx="14">
                  <c:v>-5.33</c:v>
                </c:pt>
                <c:pt idx="15">
                  <c:v>-5.31</c:v>
                </c:pt>
                <c:pt idx="16">
                  <c:v>-5.6</c:v>
                </c:pt>
                <c:pt idx="17">
                  <c:v>-5.14</c:v>
                </c:pt>
                <c:pt idx="18">
                  <c:v>-5.09</c:v>
                </c:pt>
                <c:pt idx="19">
                  <c:v>-5.14</c:v>
                </c:pt>
                <c:pt idx="20">
                  <c:v>-5.42</c:v>
                </c:pt>
                <c:pt idx="21">
                  <c:v>-5.17</c:v>
                </c:pt>
                <c:pt idx="22">
                  <c:v>-5.31</c:v>
                </c:pt>
                <c:pt idx="23">
                  <c:v>-5.31</c:v>
                </c:pt>
                <c:pt idx="24">
                  <c:v>-5.11</c:v>
                </c:pt>
                <c:pt idx="25">
                  <c:v>-5.48</c:v>
                </c:pt>
                <c:pt idx="26">
                  <c:v>-5.32</c:v>
                </c:pt>
                <c:pt idx="27">
                  <c:v>-5.49</c:v>
                </c:pt>
                <c:pt idx="28">
                  <c:v>-5.19</c:v>
                </c:pt>
                <c:pt idx="29">
                  <c:v>-5.11</c:v>
                </c:pt>
                <c:pt idx="30">
                  <c:v>-5.24</c:v>
                </c:pt>
                <c:pt idx="31">
                  <c:v>-5.4</c:v>
                </c:pt>
                <c:pt idx="32">
                  <c:v>-4.84</c:v>
                </c:pt>
                <c:pt idx="33">
                  <c:v>-5.18</c:v>
                </c:pt>
                <c:pt idx="34">
                  <c:v>-5.11</c:v>
                </c:pt>
                <c:pt idx="35">
                  <c:v>-5.28</c:v>
                </c:pt>
                <c:pt idx="36">
                  <c:v>-4.95</c:v>
                </c:pt>
                <c:pt idx="37">
                  <c:v>-5.57</c:v>
                </c:pt>
                <c:pt idx="38">
                  <c:v>-5.11</c:v>
                </c:pt>
                <c:pt idx="39">
                  <c:v>-5.43</c:v>
                </c:pt>
                <c:pt idx="40">
                  <c:v>-4.69</c:v>
                </c:pt>
                <c:pt idx="41">
                  <c:v>-0.36</c:v>
                </c:pt>
                <c:pt idx="42">
                  <c:v>-5.28</c:v>
                </c:pt>
                <c:pt idx="43">
                  <c:v>-5.59</c:v>
                </c:pt>
                <c:pt idx="44">
                  <c:v>-9.82</c:v>
                </c:pt>
                <c:pt idx="45">
                  <c:v>-5.64</c:v>
                </c:pt>
                <c:pt idx="46">
                  <c:v>-5.65</c:v>
                </c:pt>
                <c:pt idx="47">
                  <c:v>-5.64</c:v>
                </c:pt>
                <c:pt idx="48">
                  <c:v>-5.63</c:v>
                </c:pt>
                <c:pt idx="49">
                  <c:v>-5.8</c:v>
                </c:pt>
                <c:pt idx="50">
                  <c:v>-5.54</c:v>
                </c:pt>
                <c:pt idx="51">
                  <c:v>-5.47</c:v>
                </c:pt>
                <c:pt idx="52">
                  <c:v>-5.58</c:v>
                </c:pt>
                <c:pt idx="53">
                  <c:v>-5.45</c:v>
                </c:pt>
                <c:pt idx="54">
                  <c:v>-5.63</c:v>
                </c:pt>
                <c:pt idx="55">
                  <c:v>-5.64</c:v>
                </c:pt>
                <c:pt idx="56">
                  <c:v>-5.54</c:v>
                </c:pt>
                <c:pt idx="57">
                  <c:v>-5.58</c:v>
                </c:pt>
                <c:pt idx="58">
                  <c:v>-5.31</c:v>
                </c:pt>
                <c:pt idx="59">
                  <c:v>-5.77</c:v>
                </c:pt>
                <c:pt idx="60">
                  <c:v>-5.63</c:v>
                </c:pt>
                <c:pt idx="61">
                  <c:v>-7.32</c:v>
                </c:pt>
                <c:pt idx="62">
                  <c:v>-5.54</c:v>
                </c:pt>
                <c:pt idx="63">
                  <c:v>-5.45</c:v>
                </c:pt>
                <c:pt idx="64">
                  <c:v>-5.59</c:v>
                </c:pt>
                <c:pt idx="65">
                  <c:v>-5.5</c:v>
                </c:pt>
                <c:pt idx="66">
                  <c:v>-5.56</c:v>
                </c:pt>
                <c:pt idx="67">
                  <c:v>-5.21</c:v>
                </c:pt>
                <c:pt idx="68">
                  <c:v>-6.1</c:v>
                </c:pt>
                <c:pt idx="69">
                  <c:v>-5.34</c:v>
                </c:pt>
                <c:pt idx="70">
                  <c:v>-5.15</c:v>
                </c:pt>
                <c:pt idx="71">
                  <c:v>-0.23</c:v>
                </c:pt>
                <c:pt idx="72">
                  <c:v>-5.1</c:v>
                </c:pt>
                <c:pt idx="73">
                  <c:v>-5.34</c:v>
                </c:pt>
                <c:pt idx="74">
                  <c:v>-4.95</c:v>
                </c:pt>
                <c:pt idx="75">
                  <c:v>-6.22</c:v>
                </c:pt>
                <c:pt idx="76">
                  <c:v>-5.31</c:v>
                </c:pt>
                <c:pt idx="77">
                  <c:v>-5.18</c:v>
                </c:pt>
                <c:pt idx="78">
                  <c:v>-5.79</c:v>
                </c:pt>
                <c:pt idx="79">
                  <c:v>-5.2</c:v>
                </c:pt>
                <c:pt idx="80">
                  <c:v>-6.37</c:v>
                </c:pt>
                <c:pt idx="81">
                  <c:v>-5.28</c:v>
                </c:pt>
                <c:pt idx="82">
                  <c:v>-5.25</c:v>
                </c:pt>
                <c:pt idx="83">
                  <c:v>-5.9</c:v>
                </c:pt>
                <c:pt idx="84">
                  <c:v>-5.9</c:v>
                </c:pt>
                <c:pt idx="85">
                  <c:v>-5.58</c:v>
                </c:pt>
                <c:pt idx="86">
                  <c:v>-9.33</c:v>
                </c:pt>
                <c:pt idx="87">
                  <c:v>-5.84</c:v>
                </c:pt>
                <c:pt idx="88">
                  <c:v>-5.62</c:v>
                </c:pt>
                <c:pt idx="89">
                  <c:v>-5.79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5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050" b="0" i="0" u="none" strike="noStrike">
                    <a:solidFill>
                      <a:srgbClr val="000000"/>
                    </a:solidFill>
                    <a:latin typeface="Times New Roman"/>
                  </a:rPr>
                  <a:t>Row index in fall_dataset.csv (rows 815–854 straight, 855–904 fall)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Times New Roman"/>
                  </a:rPr>
                  <a:t>Angular rate (dps)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Times New Roman"/>
              </a:rPr>
              <a:t>Feature importance (mean decrease in impurity,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70C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az</c:v>
                  </c:pt>
                  <c:pt idx="1">
                    <c:v>ax</c:v>
                  </c:pt>
                  <c:pt idx="2">
                    <c:v>gyro_mag</c:v>
                  </c:pt>
                  <c:pt idx="3">
                    <c:v>ay</c:v>
                  </c:pt>
                  <c:pt idx="4">
                    <c:v>acc_mag</c:v>
                  </c:pt>
                  <c:pt idx="5">
                    <c:v>gx</c:v>
                  </c:pt>
                  <c:pt idx="6">
                    <c:v>gz</c:v>
                  </c:pt>
                  <c:pt idx="7">
                    <c:v>gy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</c:v>
                </c:pt>
                <c:pt idx="1">
                  <c:v>18.9</c:v>
                </c:pt>
                <c:pt idx="2">
                  <c:v>15.4</c:v>
                </c:pt>
                <c:pt idx="3">
                  <c:v>14.8</c:v>
                </c:pt>
                <c:pt idx="4">
                  <c:v>8.8</c:v>
                </c:pt>
                <c:pt idx="5">
                  <c:v>5.1</c:v>
                </c:pt>
                <c:pt idx="6">
                  <c:v>4.4</c:v>
                </c:pt>
                <c:pt idx="7">
                  <c:v>2.6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1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752" y="219456"/>
            <a:ext cx="1600200" cy="8229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064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RAKSHA-NET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829800" y="1554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DA3 PROJECT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6362395"/>
            <a:ext cx="12191695" cy="49560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55848" y="6362395"/>
            <a:ext cx="54864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23BAI1288 | 24BCE1712 | 24BCE1857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9800" y="155448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SYSTEMS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DA3 PROJECT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4158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3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0" y="6362395"/>
            <a:ext cx="12191695" cy="495605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55848" y="6362395"/>
            <a:ext cx="54864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23BAI1288 | 24BCE1712 | 24BCE1857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ho.int/news-room/fact-sheets/detail/falls" TargetMode="External"/><Relationship Id="rId2" Type="http://schemas.openxmlformats.org/officeDocument/2006/relationships/hyperlink" Target="https://doi.org/10.1186/1475-925X-12-66" TargetMode="External"/><Relationship Id="rId3" Type="http://schemas.openxmlformats.org/officeDocument/2006/relationships/hyperlink" Target="https://doi.org/10.1023/A:1010933404324" TargetMode="External"/><Relationship Id="rId4" Type="http://schemas.openxmlformats.org/officeDocument/2006/relationships/hyperlink" Target="https://github.com/LakshmananParthasarathySubbiah/RAKSHA-NET" TargetMode="External"/><Relationship Id="rId5" Type="http://schemas.openxmlformats.org/officeDocument/2006/relationships/hyperlink" Target="https://drive.google.com/file/d/1NSicNeXJ_TEGcQyVMQZT8Lcgb-owuh-1/view" TargetMode="External"/><Relationship Id="rId6" Type="http://schemas.openxmlformats.org/officeDocument/2006/relationships/hyperlink" Target="https://raksha-net-da3-vitc.vercel.app" TargetMode="External"/><Relationship Id="rId7" Type="http://schemas.openxmlformats.org/officeDocument/2006/relationships/hyperlink" Target="https://docs.google.com/document/d/1tkphE-E_hh2wXWzOzW7m_2iI8aC8j3y8QR7x9MrlkrM/edit?usp=sharing" TargetMode="External"/><Relationship Id="rId8" Type="http://schemas.openxmlformats.org/officeDocument/2006/relationships/hyperlink" Target="https://docs.google.com/document/d/1VNs3Jc9mYc-b4mMi58AH8aHW2Y_WUNgGyTsJXDkRRuY/edit?usp=sharing" TargetMode="Externa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11480" y="201168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DA3 — EMBEDDED SYSTEMS PROJECT REVIEW 3</a:t>
            </a:r>
            <a:endParaRPr lang="en-US" sz="2800" dirty="0"/>
          </a:p>
        </p:txBody>
      </p:sp>
      <p:sp>
        <p:nvSpPr>
          <p:cNvPr id="3" name="Title details"/>
          <p:cNvSpPr txBox="1"/>
          <p:nvPr/>
        </p:nvSpPr>
        <p:spPr>
          <a:xfrm>
            <a:off x="411480" y="1234440"/>
            <a:ext cx="5486400" cy="4937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Title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RAKSHA-NET: IMU-based fall detection with a Random Forest classifier, BLE room identification and SMS alerting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Institution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Vellore Institute of Technology, Chennai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Embedded Systems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Assessment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DA3, Review 3: Prototype Validation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Registration Numbers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23BAI1288, 24BCE1712, 24BCE1857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Disha Parasu, Lakshmanan Parthasarathy SP, Nethra Sri R S</a:t>
            </a:r>
            <a:endParaRPr lang="en-US" sz="18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Faculty Guide –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 Suhasini S</a:t>
            </a:r>
            <a:endParaRPr lang="en-US" sz="1800" dirty="0"/>
          </a:p>
        </p:txBody>
      </p:sp>
      <p:pic>
        <p:nvPicPr>
          <p:cNvPr id="4" name="Photo geotag_team.jpg" descr="Geotagged team photograph at VIT Chennai Academic Block, 23 Oct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38058"/>
            <a:ext cx="5669280" cy="3181883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6172200" y="509309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Geotagged team photograph, Academic Block, VIT Chennai (23 Oct 2026)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AND PROBLEM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411480" y="1188720"/>
            <a:ext cx="7680960" cy="5074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Background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Falls and injury: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falls are the second leading cause of unintentional injury deaths worldwide after road injuries. WHO estimates about 842 000 fall deaths in 2023, and about 71% of them were adults aged 60 and over [1].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Getting help: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person who lives alone may not be able to reach a phone after a fall. Wearable fall detectors try to send the alert automatically [2].</a:t>
            </a:r>
            <a:endParaRPr lang="en-US" sz="150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Problem Statement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recognise a probable fall from body-motion data (accelerometer and gyroscope), without cameras.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alarms: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unusual reading should not send an SMS, and the wearer should be able to cancel an alert.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Location: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tell the caregiver which room the person is in, using low-cost BLE beacons.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Reach: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caregivers by SMS, so any phone works and no app or internet is needed on their side.</a:t>
            </a:r>
            <a:endParaRPr lang="en-US" sz="150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Scope of this prototype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 prototype on one board. The ESP32-S3 handles sensing, BLE scanning, LCD, buzzer, GSM and SD logging. The Random Forest runs on a laptop connected over USB serial.</a:t>
            </a:r>
            <a:endParaRPr lang="en-US" sz="1500" dirty="0"/>
          </a:p>
        </p:txBody>
      </p:sp>
      <p:sp>
        <p:nvSpPr>
          <p:cNvPr id="4" name="Statistic"/>
          <p:cNvSpPr/>
          <p:nvPr/>
        </p:nvSpPr>
        <p:spPr>
          <a:xfrm>
            <a:off x="8412480" y="1325880"/>
            <a:ext cx="338328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9DC3E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~842 000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 deaths worldwide in 2023 [1]</a:t>
            </a:r>
            <a:endParaRPr lang="en-US" sz="3000" dirty="0"/>
          </a:p>
        </p:txBody>
      </p:sp>
      <p:sp>
        <p:nvSpPr>
          <p:cNvPr id="5" name="Statistic"/>
          <p:cNvSpPr/>
          <p:nvPr/>
        </p:nvSpPr>
        <p:spPr>
          <a:xfrm>
            <a:off x="8412480" y="2880360"/>
            <a:ext cx="338328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9DC3E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2nd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leading cause of unintentional injury deaths [1]</a:t>
            </a:r>
            <a:endParaRPr lang="en-US" sz="3000" dirty="0"/>
          </a:p>
        </p:txBody>
      </p:sp>
      <p:sp>
        <p:nvSpPr>
          <p:cNvPr id="6" name="Statistic"/>
          <p:cNvSpPr/>
          <p:nvPr/>
        </p:nvSpPr>
        <p:spPr>
          <a:xfrm>
            <a:off x="8412480" y="4434840"/>
            <a:ext cx="3383280" cy="1417320"/>
          </a:xfrm>
          <a:prstGeom prst="rect">
            <a:avLst/>
          </a:prstGeom>
          <a:solidFill>
            <a:srgbClr val="DEEBF7"/>
          </a:solidFill>
          <a:ln w="12700">
            <a:solidFill>
              <a:srgbClr val="9DC3E6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C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~71%</a:t>
            </a:r>
            <a:endParaRPr lang="en-US" sz="30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fatal falls were adults aged 60+ [1]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AND PROPOSED SOLUTION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411480" y="1188720"/>
            <a:ext cx="4206240" cy="49377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Objectives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Stream 6-axis IMU readings from the ESP32-S3 to a laptop in real time.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a classifier that separates normal (straight) data from fall data.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only after repeated fall predictions, with a local cancel button.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the room with BLE beacons and include it in the SMS.</a:t>
            </a:r>
            <a:endParaRPr lang="en-US" sz="15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 alert and GSM events on a MicroSD card; show status on an LCD and a dashboard.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800600" y="1188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Proposed Solution</a:t>
            </a:r>
            <a:endParaRPr lang="en-US" sz="15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572768"/>
          <a:ext cx="699516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50292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Subsystem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RAKSHA-NET implements it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Inertial motion sensing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MPU6500 on I2C: 3-axis accelerometer (±2 g) and gyroscope (±250 dps), read in every loop of the firmware.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 learning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(200 trees) on 8 features in predict_live.py on the laptop; result returned as a PRED command.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room localization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ESP32-S3 scans for 3 named beacons; the strongest one above −95 dBm is taken as the current room.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Emergency notification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Buzzer and LCD countdown, 12 s to cancel with the button, then SMS to 2 numbers through the SIM800L.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Monitoring and logging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16×2 LCD pages, CSV logs on MicroSD (alert events, GSM replies), laptop terminal and web dashboard.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SYSTEM ARCHITECTURE</a:t>
            </a:r>
            <a:endParaRPr lang="en-US" sz="2600" dirty="0"/>
          </a:p>
        </p:txBody>
      </p:sp>
      <p:sp>
        <p:nvSpPr>
          <p:cNvPr id="3" name="ESP32-S3"/>
          <p:cNvSpPr/>
          <p:nvPr/>
        </p:nvSpPr>
        <p:spPr>
          <a:xfrm>
            <a:off x="4572000" y="1234440"/>
            <a:ext cx="3017520" cy="3337560"/>
          </a:xfrm>
          <a:prstGeom prst="rect">
            <a:avLst/>
          </a:prstGeom>
          <a:solidFill>
            <a:srgbClr val="DEEBF7"/>
          </a:solidFill>
          <a:ln w="25400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ESP32-S3 controller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(YD-ESP32-S3 board)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loop(): read MPU6500, print sensor line and MLDATA, update LCD page, handle PRED commands, run the alert 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beaconScanTask on core 0: 3 s BLE scan, nearest beacon ≥ −95 dBm</a:t>
            </a:r>
            <a:endParaRPr lang="en-US" sz="1200" dirty="0"/>
          </a:p>
        </p:txBody>
      </p:sp>
      <p:sp>
        <p:nvSpPr>
          <p:cNvPr id="4" name="MPU6500 IMU"/>
          <p:cNvSpPr/>
          <p:nvPr/>
        </p:nvSpPr>
        <p:spPr>
          <a:xfrm>
            <a:off x="365760" y="1234440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MPU6500 IMU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±2 g, ±250 dps</a:t>
            </a:r>
            <a:endParaRPr lang="en-US" sz="1200" dirty="0"/>
          </a:p>
        </p:txBody>
      </p:sp>
      <p:sp>
        <p:nvSpPr>
          <p:cNvPr id="5" name="Connector"/>
          <p:cNvSpPr/>
          <p:nvPr/>
        </p:nvSpPr>
        <p:spPr>
          <a:xfrm>
            <a:off x="2926080" y="1645920"/>
            <a:ext cx="164592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" name="Link label"/>
          <p:cNvSpPr txBox="1"/>
          <p:nvPr/>
        </p:nvSpPr>
        <p:spPr>
          <a:xfrm>
            <a:off x="2926080" y="1344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I2C, GPIO8/9, 0x68</a:t>
            </a:r>
            <a:endParaRPr lang="en-US" sz="1000" dirty="0"/>
          </a:p>
        </p:txBody>
      </p:sp>
      <p:sp>
        <p:nvSpPr>
          <p:cNvPr id="7" name="BLE room beacons ×3"/>
          <p:cNvSpPr/>
          <p:nvPr/>
        </p:nvSpPr>
        <p:spPr>
          <a:xfrm>
            <a:off x="365760" y="2496312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room beacons ×3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ROOM_Bedroom, ROOM_Hallroom, ROOM_Washroom</a:t>
            </a:r>
            <a:endParaRPr lang="en-US" sz="1200" dirty="0"/>
          </a:p>
        </p:txBody>
      </p:sp>
      <p:sp>
        <p:nvSpPr>
          <p:cNvPr id="8" name="Connector"/>
          <p:cNvSpPr/>
          <p:nvPr/>
        </p:nvSpPr>
        <p:spPr>
          <a:xfrm>
            <a:off x="2926080" y="2907792"/>
            <a:ext cx="164592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dash"/>
            <a:tailEnd type="triangle"/>
          </a:ln>
        </p:spPr>
      </p:sp>
      <p:sp>
        <p:nvSpPr>
          <p:cNvPr id="9" name="Link label"/>
          <p:cNvSpPr txBox="1"/>
          <p:nvPr/>
        </p:nvSpPr>
        <p:spPr>
          <a:xfrm>
            <a:off x="2926080" y="26060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advertising (RSSI)</a:t>
            </a:r>
            <a:endParaRPr lang="en-US" sz="1000" dirty="0"/>
          </a:p>
        </p:txBody>
      </p:sp>
      <p:sp>
        <p:nvSpPr>
          <p:cNvPr id="10" name="Cancel push button"/>
          <p:cNvSpPr/>
          <p:nvPr/>
        </p:nvSpPr>
        <p:spPr>
          <a:xfrm>
            <a:off x="365760" y="3758184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Cancel push button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GPIO14, INPUT_PULLUP</a:t>
            </a:r>
            <a:endParaRPr lang="en-US" sz="1200" dirty="0"/>
          </a:p>
        </p:txBody>
      </p:sp>
      <p:sp>
        <p:nvSpPr>
          <p:cNvPr id="11" name="Connector"/>
          <p:cNvSpPr/>
          <p:nvPr/>
        </p:nvSpPr>
        <p:spPr>
          <a:xfrm>
            <a:off x="2926080" y="4169664"/>
            <a:ext cx="164592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Link label"/>
          <p:cNvSpPr txBox="1"/>
          <p:nvPr/>
        </p:nvSpPr>
        <p:spPr>
          <a:xfrm>
            <a:off x="2926080" y="3867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digital input</a:t>
            </a:r>
            <a:endParaRPr lang="en-US" sz="1000" dirty="0"/>
          </a:p>
        </p:txBody>
      </p:sp>
      <p:sp>
        <p:nvSpPr>
          <p:cNvPr id="13" name="16×2 I2C LCD"/>
          <p:cNvSpPr/>
          <p:nvPr/>
        </p:nvSpPr>
        <p:spPr>
          <a:xfrm>
            <a:off x="9262872" y="1234440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16×2 I2C LCD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 0x27; room, readings, alerts</a:t>
            </a:r>
            <a:endParaRPr lang="en-US" sz="1200" dirty="0"/>
          </a:p>
        </p:txBody>
      </p:sp>
      <p:sp>
        <p:nvSpPr>
          <p:cNvPr id="14" name="Connector"/>
          <p:cNvSpPr/>
          <p:nvPr/>
        </p:nvSpPr>
        <p:spPr>
          <a:xfrm>
            <a:off x="7589520" y="1645920"/>
            <a:ext cx="167335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Link label"/>
          <p:cNvSpPr txBox="1"/>
          <p:nvPr/>
        </p:nvSpPr>
        <p:spPr>
          <a:xfrm>
            <a:off x="7589520" y="134416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I2C, GPIO8/9</a:t>
            </a:r>
            <a:endParaRPr lang="en-US" sz="1000" dirty="0"/>
          </a:p>
        </p:txBody>
      </p:sp>
      <p:sp>
        <p:nvSpPr>
          <p:cNvPr id="16" name="Buzzer"/>
          <p:cNvSpPr/>
          <p:nvPr/>
        </p:nvSpPr>
        <p:spPr>
          <a:xfrm>
            <a:off x="9262872" y="2496312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Buzzer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toggles every 300 ms in alert</a:t>
            </a:r>
            <a:endParaRPr lang="en-US" sz="1200" dirty="0"/>
          </a:p>
        </p:txBody>
      </p:sp>
      <p:sp>
        <p:nvSpPr>
          <p:cNvPr id="17" name="Connector"/>
          <p:cNvSpPr/>
          <p:nvPr/>
        </p:nvSpPr>
        <p:spPr>
          <a:xfrm>
            <a:off x="7589520" y="2907792"/>
            <a:ext cx="167335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8" name="Link label"/>
          <p:cNvSpPr txBox="1"/>
          <p:nvPr/>
        </p:nvSpPr>
        <p:spPr>
          <a:xfrm>
            <a:off x="7589520" y="2606040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GPIO21</a:t>
            </a:r>
            <a:endParaRPr lang="en-US" sz="1000" dirty="0"/>
          </a:p>
        </p:txBody>
      </p:sp>
      <p:sp>
        <p:nvSpPr>
          <p:cNvPr id="19" name="MicroSD module"/>
          <p:cNvSpPr/>
          <p:nvPr/>
        </p:nvSpPr>
        <p:spPr>
          <a:xfrm>
            <a:off x="9262872" y="3758184"/>
            <a:ext cx="256032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MicroSD module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ai_fall_log.csv, gsm_log.csv</a:t>
            </a:r>
            <a:endParaRPr lang="en-US" sz="1200" dirty="0"/>
          </a:p>
        </p:txBody>
      </p:sp>
      <p:sp>
        <p:nvSpPr>
          <p:cNvPr id="20" name="Connector"/>
          <p:cNvSpPr/>
          <p:nvPr/>
        </p:nvSpPr>
        <p:spPr>
          <a:xfrm>
            <a:off x="7589520" y="4169664"/>
            <a:ext cx="167335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1" name="Link label"/>
          <p:cNvSpPr txBox="1"/>
          <p:nvPr/>
        </p:nvSpPr>
        <p:spPr>
          <a:xfrm>
            <a:off x="7589520" y="3867912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SPI, GPIO10–13</a:t>
            </a:r>
            <a:endParaRPr lang="en-US" sz="1000" dirty="0"/>
          </a:p>
        </p:txBody>
      </p:sp>
      <p:sp>
        <p:nvSpPr>
          <p:cNvPr id="22" name="Laptop"/>
          <p:cNvSpPr/>
          <p:nvPr/>
        </p:nvSpPr>
        <p:spPr>
          <a:xfrm>
            <a:off x="365760" y="5074920"/>
            <a:ext cx="4846320" cy="1097280"/>
          </a:xfrm>
          <a:prstGeom prst="rect">
            <a:avLst/>
          </a:prstGeom>
          <a:solidFill>
            <a:srgbClr val="F2F2F2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Laptop (edge computer)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predict_live.py: features + Random Forest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run_dashboard.py: web dashboard</a:t>
            </a:r>
            <a:endParaRPr lang="en-US" sz="1200" dirty="0"/>
          </a:p>
        </p:txBody>
      </p:sp>
      <p:sp>
        <p:nvSpPr>
          <p:cNvPr id="23" name="Connector"/>
          <p:cNvSpPr/>
          <p:nvPr/>
        </p:nvSpPr>
        <p:spPr>
          <a:xfrm>
            <a:off x="4983480" y="4572000"/>
            <a:ext cx="91" cy="50292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24" name="Link label"/>
          <p:cNvSpPr txBox="1"/>
          <p:nvPr/>
        </p:nvSpPr>
        <p:spPr>
          <a:xfrm>
            <a:off x="3017520" y="46177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USB serial 115200: MLDATA up, PRED,&lt;status&gt;,&lt;conf&gt; down</a:t>
            </a:r>
            <a:endParaRPr lang="en-US" sz="1000" dirty="0"/>
          </a:p>
        </p:txBody>
      </p:sp>
      <p:sp>
        <p:nvSpPr>
          <p:cNvPr id="25" name="SIM800L"/>
          <p:cNvSpPr/>
          <p:nvPr/>
        </p:nvSpPr>
        <p:spPr>
          <a:xfrm>
            <a:off x="6035040" y="5074920"/>
            <a:ext cx="288036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SIM800L GSM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UART1 (TX GPIO17, RX GPIO18), AT text mode</a:t>
            </a:r>
            <a:endParaRPr lang="en-US" sz="1200" dirty="0"/>
          </a:p>
        </p:txBody>
      </p:sp>
      <p:sp>
        <p:nvSpPr>
          <p:cNvPr id="26" name="Connector"/>
          <p:cNvSpPr/>
          <p:nvPr/>
        </p:nvSpPr>
        <p:spPr>
          <a:xfrm>
            <a:off x="7223760" y="4572000"/>
            <a:ext cx="91" cy="50292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27" name="Link label"/>
          <p:cNvSpPr txBox="1"/>
          <p:nvPr/>
        </p:nvSpPr>
        <p:spPr>
          <a:xfrm>
            <a:off x="726948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UART1</a:t>
            </a:r>
            <a:endParaRPr lang="en-US" sz="1000" dirty="0"/>
          </a:p>
        </p:txBody>
      </p:sp>
      <p:sp>
        <p:nvSpPr>
          <p:cNvPr id="28" name="Phones"/>
          <p:cNvSpPr/>
          <p:nvPr/>
        </p:nvSpPr>
        <p:spPr>
          <a:xfrm>
            <a:off x="9262872" y="5074920"/>
            <a:ext cx="256032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Caregiver phones (2)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SMS: room, RSSI, AI confidence</a:t>
            </a:r>
            <a:endParaRPr lang="en-US" sz="1200" dirty="0"/>
          </a:p>
        </p:txBody>
      </p:sp>
      <p:sp>
        <p:nvSpPr>
          <p:cNvPr id="29" name="Connector"/>
          <p:cNvSpPr/>
          <p:nvPr/>
        </p:nvSpPr>
        <p:spPr>
          <a:xfrm>
            <a:off x="8915400" y="5623560"/>
            <a:ext cx="34747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COMPONENTS AND PROTOTYPE</a:t>
            </a:r>
            <a:endParaRPr lang="en-US" sz="2600" dirty="0"/>
          </a:p>
        </p:txBody>
      </p:sp>
      <p:pic>
        <p:nvPicPr>
          <p:cNvPr id="3" name="Photo hw_labelled.jpg" descr="Labelled photograph of the RAKSHA-NET prototype 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050453" cy="475488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365760" y="5989320"/>
            <a:ext cx="4050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Assembled prototype on board (labelled)</a:t>
            </a:r>
            <a:endParaRPr lang="en-US" sz="1100" dirty="0"/>
          </a:p>
        </p:txBody>
      </p:sp>
      <p:pic>
        <p:nvPicPr>
          <p:cNvPr id="5" name="Photo ble_beacons.jpg" descr="Photograph of the three BLE room beac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0011"/>
            <a:ext cx="3246120" cy="1900539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5486400" y="3227125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room beacons 1–3 (one on Li-Po battery)</a:t>
            </a:r>
            <a:endParaRPr lang="en-US" sz="1100" dirty="0"/>
          </a:p>
        </p:txBody>
      </p:sp>
      <p:sp>
        <p:nvSpPr>
          <p:cNvPr id="7" name="Body"/>
          <p:cNvSpPr txBox="1"/>
          <p:nvPr/>
        </p:nvSpPr>
        <p:spPr>
          <a:xfrm>
            <a:off x="8915400" y="1188720"/>
            <a:ext cx="2926080" cy="2606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</a:t>
            </a:r>
            <a:endParaRPr lang="en-US" sz="13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fixed on a hardboard base with wiring junction boards.</a:t>
            </a:r>
            <a:endParaRPr lang="en-US" sz="13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ESP32-S3 powered over the USB link to the laptop (same cable carries serial data).</a:t>
            </a:r>
            <a:endParaRPr lang="en-US" sz="13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Beacons are separate small boards, powered by Li-Po battery or USB.</a:t>
            </a:r>
            <a:endParaRPr lang="en-US" sz="13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3840480"/>
          <a:ext cx="63550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84048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Component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 in the prototype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ESP32-S3 (YD-ESP32-S3)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Controller, BLE scanner, USB serial link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MPU6500 IMU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Acceleration and angular rate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SIM800L GSM module + antenna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Emergency SMS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16×2 I2C LCD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Room, readings, alert countdown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Buzzer / push button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Audible alert / cancel during 12 s window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MicroSD card module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CSV logs of alerts and GSM replies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beacon boards ×3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Room identification (Bedroom, Hallroom, Washroom)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CIRCUIT DESIGN AND CONNECTIONS</a:t>
            </a:r>
            <a:endParaRPr lang="en-US" sz="26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57432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2834640"/>
                <a:gridCol w="478231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Interface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ESP32-S3 pins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Settings in firmware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MPU6500 IMU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I2C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SDA GPIO8, SCL GPIO9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Address 0x68; ±2 g (16384 LSB/g); ±250 dps (131 LSB/dps); VCC 3.3 V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16×2 LCD (I2C backpack)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I2C (shared bus)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SDA GPIO8, SCL GPIO9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Address 0x27; one page per loop (1000 ms)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MicroSD card module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CS 10, MOSI 11, MISO 12, SCK 13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/ai_fall_log.csv, /gsm_log.csv (append)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SIM800L EVB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UART1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RX1 GPIO18 ← GSM TX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TX1 GPIO17 → GSM RX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Baud auto-detect: 9600, 115200, 57600, 38400, 19200, 4800; ATE0, AT+CMGF=1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Cancel push button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Digital input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GPIO14 to GND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INPUT_PULLUP, pressed = LOW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Buzzer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Digital output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GPIO21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On/off every 300 ms during the 12 s window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Laptop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USB serial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USB port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115200 baud; MLDATA out, PRED commands in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beacons ×3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(on-chip radio)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Active scan 3 s, interval 100, window 90; min RSSI −95 dBm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ption"/>
          <p:cNvSpPr txBox="1"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Pins and settings taken from falldeetectml.ino. The SIM800L currently runs from the board supply; a separate supply for it is planned.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ARCHITECTURE</a:t>
            </a:r>
            <a:endParaRPr lang="en-US" sz="2600" dirty="0"/>
          </a:p>
        </p:txBody>
      </p:sp>
      <p:sp>
        <p:nvSpPr>
          <p:cNvPr id="3" name="Lane header"/>
          <p:cNvSpPr/>
          <p:nvPr/>
        </p:nvSpPr>
        <p:spPr>
          <a:xfrm>
            <a:off x="365760" y="1170432"/>
            <a:ext cx="4206240" cy="347472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ESP32-S3 firmware (falldeetectml.ino)</a:t>
            </a:r>
            <a:endParaRPr lang="en-US" sz="1300" dirty="0"/>
          </a:p>
        </p:txBody>
      </p:sp>
      <p:sp>
        <p:nvSpPr>
          <p:cNvPr id="4" name="Lane header"/>
          <p:cNvSpPr/>
          <p:nvPr/>
        </p:nvSpPr>
        <p:spPr>
          <a:xfrm>
            <a:off x="4800600" y="1170432"/>
            <a:ext cx="2606040" cy="347472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USB serial, 115200 baud</a:t>
            </a:r>
            <a:endParaRPr lang="en-US" sz="1300" dirty="0"/>
          </a:p>
        </p:txBody>
      </p:sp>
      <p:sp>
        <p:nvSpPr>
          <p:cNvPr id="5" name="Lane header"/>
          <p:cNvSpPr/>
          <p:nvPr/>
        </p:nvSpPr>
        <p:spPr>
          <a:xfrm>
            <a:off x="7635240" y="1170432"/>
            <a:ext cx="4206240" cy="347472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Laptop, Python 3</a:t>
            </a:r>
            <a:endParaRPr lang="en-US" sz="1300" dirty="0"/>
          </a:p>
        </p:txBody>
      </p:sp>
      <p:sp>
        <p:nvSpPr>
          <p:cNvPr id="6" name="Block"/>
          <p:cNvSpPr/>
          <p:nvPr/>
        </p:nvSpPr>
        <p:spPr>
          <a:xfrm>
            <a:off x="365760" y="1645920"/>
            <a:ext cx="4206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setup()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LCD, SD card, GSM (baud detect, text mode), MPU6500, start beacon task</a:t>
            </a:r>
            <a:endParaRPr lang="en-US" sz="1200" dirty="0"/>
          </a:p>
        </p:txBody>
      </p:sp>
      <p:sp>
        <p:nvSpPr>
          <p:cNvPr id="7" name="Block"/>
          <p:cNvSpPr/>
          <p:nvPr/>
        </p:nvSpPr>
        <p:spPr>
          <a:xfrm>
            <a:off x="365760" y="2542032"/>
            <a:ext cx="4206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loop() every ~1 s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readMPU6500() → logSensorData(): text line + MLDATA → LCD page</a:t>
            </a:r>
            <a:endParaRPr lang="en-US" sz="1200" dirty="0"/>
          </a:p>
        </p:txBody>
      </p:sp>
      <p:sp>
        <p:nvSpPr>
          <p:cNvPr id="8" name="Block"/>
          <p:cNvSpPr/>
          <p:nvPr/>
        </p:nvSpPr>
        <p:spPr>
          <a:xfrm>
            <a:off x="365760" y="3438144"/>
            <a:ext cx="4206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waitWithAlertHandling()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handlePredictionCommand(), handleFallAlert(): buzzer, button, 12 s window</a:t>
            </a:r>
            <a:endParaRPr lang="en-US" sz="1200" dirty="0"/>
          </a:p>
        </p:txBody>
      </p:sp>
      <p:sp>
        <p:nvSpPr>
          <p:cNvPr id="9" name="Block"/>
          <p:cNvSpPr/>
          <p:nvPr/>
        </p:nvSpPr>
        <p:spPr>
          <a:xfrm>
            <a:off x="365760" y="4334256"/>
            <a:ext cx="4206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beaconScanTask (core 0)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scan → setCurrentRoom() under a critical section</a:t>
            </a:r>
            <a:endParaRPr lang="en-US" sz="1200" dirty="0"/>
          </a:p>
        </p:txBody>
      </p:sp>
      <p:sp>
        <p:nvSpPr>
          <p:cNvPr id="10" name="Block"/>
          <p:cNvSpPr/>
          <p:nvPr/>
        </p:nvSpPr>
        <p:spPr>
          <a:xfrm>
            <a:off x="365760" y="5230368"/>
            <a:ext cx="42062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sendConfirmedFallAlert()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SMS to 2 numbers → saveGSMLog(); logFallEvent() → SD</a:t>
            </a:r>
            <a:endParaRPr lang="en-US" sz="1200" dirty="0"/>
          </a:p>
        </p:txBody>
      </p:sp>
      <p:sp>
        <p:nvSpPr>
          <p:cNvPr id="11" name="Block"/>
          <p:cNvSpPr/>
          <p:nvPr/>
        </p:nvSpPr>
        <p:spPr>
          <a:xfrm>
            <a:off x="7635240" y="1645920"/>
            <a:ext cx="42062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collect_data.py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parses MLDATA, adds acc_mag, gyro_mag and label → fall_dataset.csv</a:t>
            </a:r>
            <a:endParaRPr lang="en-US" sz="1200" dirty="0"/>
          </a:p>
        </p:txBody>
      </p:sp>
      <p:sp>
        <p:nvSpPr>
          <p:cNvPr id="12" name="Block"/>
          <p:cNvSpPr/>
          <p:nvPr/>
        </p:nvSpPr>
        <p:spPr>
          <a:xfrm>
            <a:off x="7635240" y="2761488"/>
            <a:ext cx="42062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train_random_forest.py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75/25 split, RandomForest(200) → fall_random_forest.joblib</a:t>
            </a:r>
            <a:endParaRPr lang="en-US" sz="1200" dirty="0"/>
          </a:p>
        </p:txBody>
      </p:sp>
      <p:sp>
        <p:nvSpPr>
          <p:cNvPr id="13" name="Block"/>
          <p:cNvSpPr/>
          <p:nvPr/>
        </p:nvSpPr>
        <p:spPr>
          <a:xfrm>
            <a:off x="7635240" y="3877056"/>
            <a:ext cx="4206240" cy="960120"/>
          </a:xfrm>
          <a:prstGeom prst="rect">
            <a:avLst/>
          </a:prstGeom>
          <a:solidFill>
            <a:srgbClr val="DEEBF7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predict_live.py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parse_ml_line() → predict + predict_proba → 3-sample confirmation → board_command()</a:t>
            </a:r>
            <a:endParaRPr lang="en-US" sz="1200" dirty="0"/>
          </a:p>
        </p:txBody>
      </p:sp>
      <p:sp>
        <p:nvSpPr>
          <p:cNvPr id="14" name="Block"/>
          <p:cNvSpPr/>
          <p:nvPr/>
        </p:nvSpPr>
        <p:spPr>
          <a:xfrm>
            <a:off x="7635240" y="4992624"/>
            <a:ext cx="4206240" cy="960120"/>
          </a:xfrm>
          <a:prstGeom prst="rect">
            <a:avLst/>
          </a:prstGeom>
          <a:solidFill>
            <a:srgbClr val="DEEBF7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run_dashboard.py</a:t>
            </a:r>
            <a:endParaRPr lang="en-US" sz="12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prediction logic; owns the port; browser UI, event log, recordings</a:t>
            </a:r>
            <a:endParaRPr lang="en-US" sz="1200" dirty="0"/>
          </a:p>
        </p:txBody>
      </p:sp>
      <p:sp>
        <p:nvSpPr>
          <p:cNvPr id="15" name="Connector"/>
          <p:cNvSpPr/>
          <p:nvPr/>
        </p:nvSpPr>
        <p:spPr>
          <a:xfrm>
            <a:off x="9738360" y="2606040"/>
            <a:ext cx="91" cy="155448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6" name="Link label"/>
          <p:cNvSpPr txBox="1"/>
          <p:nvPr/>
        </p:nvSpPr>
        <p:spPr>
          <a:xfrm>
            <a:off x="480060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 X: … g | GYRO X: … dps | Room: &lt;name&gt; RSSI: &lt;n&gt;</a:t>
            </a:r>
            <a:endParaRPr lang="en-US" sz="1050" dirty="0"/>
          </a:p>
        </p:txBody>
      </p:sp>
      <p:sp>
        <p:nvSpPr>
          <p:cNvPr id="17" name="Connector"/>
          <p:cNvSpPr/>
          <p:nvPr/>
        </p:nvSpPr>
        <p:spPr>
          <a:xfrm>
            <a:off x="4800600" y="2331720"/>
            <a:ext cx="260604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8" name="Link label"/>
          <p:cNvSpPr txBox="1"/>
          <p:nvPr/>
        </p:nvSpPr>
        <p:spPr>
          <a:xfrm>
            <a:off x="4800600" y="2743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MLDATA,ax,ay,az,gx,gy,gz</a:t>
            </a:r>
            <a:endParaRPr lang="en-US" sz="1050" dirty="0"/>
          </a:p>
        </p:txBody>
      </p:sp>
      <p:sp>
        <p:nvSpPr>
          <p:cNvPr id="19" name="Connector"/>
          <p:cNvSpPr/>
          <p:nvPr/>
        </p:nvSpPr>
        <p:spPr>
          <a:xfrm>
            <a:off x="4800600" y="3246120"/>
            <a:ext cx="260604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0" name="Link label"/>
          <p:cNvSpPr txBox="1"/>
          <p:nvPr/>
        </p:nvSpPr>
        <p:spPr>
          <a:xfrm>
            <a:off x="4800600" y="3657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PRED,FALL | NORMAL | CHECK,&lt;confidence&gt;</a:t>
            </a:r>
            <a:endParaRPr lang="en-US" sz="1050" dirty="0"/>
          </a:p>
        </p:txBody>
      </p:sp>
      <p:sp>
        <p:nvSpPr>
          <p:cNvPr id="21" name="Connector"/>
          <p:cNvSpPr/>
          <p:nvPr/>
        </p:nvSpPr>
        <p:spPr>
          <a:xfrm flipH="1">
            <a:off x="4800600" y="4160520"/>
            <a:ext cx="2606040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2" name="Link label"/>
          <p:cNvSpPr txBox="1"/>
          <p:nvPr/>
        </p:nvSpPr>
        <p:spPr>
          <a:xfrm>
            <a:off x="4800600" y="45720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 and RSSI reach the laptop only through the text line; the classifier uses MLDATA only.</a:t>
            </a:r>
            <a:endParaRPr lang="en-US" sz="1050" dirty="0"/>
          </a:p>
        </p:txBody>
      </p:sp>
      <p:sp>
        <p:nvSpPr>
          <p:cNvPr id="23" name="Caption"/>
          <p:cNvSpPr txBox="1"/>
          <p:nvPr/>
        </p:nvSpPr>
        <p:spPr>
          <a:xfrm>
            <a:off x="365760" y="61081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one program may hold the COM port: predict_live.py or the dashboard, with Arduino Serial Monitor closed.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COLLECTION AND PREPARATION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411480" y="1188720"/>
            <a:ext cx="6400800" cy="5074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Collection (collect_data.py)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Command: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collect_data.py --port COM6 --label straight (or --label fall).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run reads the serial port for 240 s by default; a beep every 60 s asks the wearer to face or move front, right, back and left. Recorded with one human volunteer and a teddy bear wearing the prototype.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row: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ax, ay, az (g), gx, gy, gz (dps), acc_mag, gyro_mag and the run label.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Dataset (fall_dataset.csv)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1425 rows, 8 features, 2 labels: straight 855, fall 570.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file: </a:t>
            </a:r>
            <a:pPr indent="0" marL="0"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straight_fall_dataset - Copy.csv equals the first 855 straight rows; not used separately.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Preparation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with missing values dropped (none present); no scaling, since tree models do not need it.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Stratified 75/25 split with random_state 42.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row of a run gets the run's label, so the fall class also includes rows before and after each fall.</a:t>
            </a:r>
            <a:endParaRPr lang="en-US" sz="1450" dirty="0"/>
          </a:p>
        </p:txBody>
      </p:sp>
      <p:graphicFrame>
        <p:nvGraphicFramePr>
          <p:cNvPr id="4" name="Class distribution chart" descr=""/>
          <p:cNvGraphicFramePr/>
          <p:nvPr/>
        </p:nvGraphicFramePr>
        <p:xfrm>
          <a:off x="7040880" y="1188720"/>
          <a:ext cx="4800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4434840"/>
          <a:ext cx="45720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960120"/>
                <a:gridCol w="960120"/>
                <a:gridCol w="960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Split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straight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Training (75%)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641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1068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(25%)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214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143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357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855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570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1425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MODEL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411480" y="1188720"/>
            <a:ext cx="6492240" cy="5074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Input features (8)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ax, ay, az (g) and gx, gy, gz (dps) from one MLDATA line.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acc_mag = √(ax² + ay² + az²), gyro_mag = √(gx² + gy² + gz²).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Prediction and confidence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sample is classified on its own; output class fall or straight.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Confidence = highest class probability from predict_proba (average over the 200 trees). It is not the model accuracy.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Fall confirmation (predict_live.py)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 with confidence ≥ 0.70 adds 1 to fall_count; any other result resets it.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fall_count ≥ 3 → PRED,FALL,&lt;conf&gt; sent at once. straight → PRED,NORMAL. Otherwise PRED,CHECK.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 commands are sent at most once per 1.0 s.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Samples with acc_mag &lt; 0.20 g and gyro_mag ≤ 0.5 dps are ignored; no data for 3 s → PRED,CHECK,0.00.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188720"/>
            <a:ext cx="470916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Random Forest settings (verified from the saved model)</a:t>
            </a:r>
            <a:endParaRPr lang="en-US" sz="14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572768"/>
          <a:ext cx="4709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632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Parameter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Estimator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RandomForestClassifier (scikit-learn 1.8.0)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n_estimators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200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criterion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gini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max_features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sqrt (3 of 8 features per split)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max_depth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None (deepest tree: 16 levels)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min_samples_leaf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bootstrap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class_weight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balanced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random_state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Training rows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1068 (test rows: 357)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 DETECTION AND ALERT WORKFLOW</a:t>
            </a:r>
            <a:endParaRPr lang="en-US" sz="2600" dirty="0"/>
          </a:p>
        </p:txBody>
      </p:sp>
      <p:sp>
        <p:nvSpPr>
          <p:cNvPr id="3" name="Block"/>
          <p:cNvSpPr/>
          <p:nvPr/>
        </p:nvSpPr>
        <p:spPr>
          <a:xfrm>
            <a:off x="365760" y="1234440"/>
            <a:ext cx="1490472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Sensor acquisition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MPU6500 read once per loop (~1 s); MLDATA line over USB</a:t>
            </a:r>
            <a:endParaRPr lang="en-US" sz="1200" dirty="0"/>
          </a:p>
        </p:txBody>
      </p:sp>
      <p:sp>
        <p:nvSpPr>
          <p:cNvPr id="4" name="Connector"/>
          <p:cNvSpPr/>
          <p:nvPr/>
        </p:nvSpPr>
        <p:spPr>
          <a:xfrm>
            <a:off x="1856232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5" name="Block"/>
          <p:cNvSpPr/>
          <p:nvPr/>
        </p:nvSpPr>
        <p:spPr>
          <a:xfrm>
            <a:off x="2020824" y="1234440"/>
            <a:ext cx="1490472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Feature extraction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parse_ml_line(): 6 values + acc_mag, gyro_mag</a:t>
            </a:r>
            <a:endParaRPr lang="en-US" sz="1200" dirty="0"/>
          </a:p>
        </p:txBody>
      </p:sp>
      <p:sp>
        <p:nvSpPr>
          <p:cNvPr id="6" name="Connector"/>
          <p:cNvSpPr/>
          <p:nvPr/>
        </p:nvSpPr>
        <p:spPr>
          <a:xfrm>
            <a:off x="3511296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" name="Block"/>
          <p:cNvSpPr/>
          <p:nvPr/>
        </p:nvSpPr>
        <p:spPr>
          <a:xfrm>
            <a:off x="3675888" y="1234440"/>
            <a:ext cx="1490472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Classification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class and confidence</a:t>
            </a:r>
            <a:endParaRPr lang="en-US" sz="1200" dirty="0"/>
          </a:p>
        </p:txBody>
      </p:sp>
      <p:sp>
        <p:nvSpPr>
          <p:cNvPr id="8" name="Connector"/>
          <p:cNvSpPr/>
          <p:nvPr/>
        </p:nvSpPr>
        <p:spPr>
          <a:xfrm>
            <a:off x="5166360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Block"/>
          <p:cNvSpPr/>
          <p:nvPr/>
        </p:nvSpPr>
        <p:spPr>
          <a:xfrm>
            <a:off x="5330952" y="1234440"/>
            <a:ext cx="1490472" cy="1463040"/>
          </a:xfrm>
          <a:prstGeom prst="rect">
            <a:avLst/>
          </a:prstGeom>
          <a:solidFill>
            <a:srgbClr val="DEEBF7"/>
          </a:solidFill>
          <a:ln w="15875">
            <a:solidFill>
              <a:srgbClr val="0070C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Confirmation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consecutive fall results with conf ≥ 0.70 → PRED,FALL</a:t>
            </a:r>
            <a:endParaRPr lang="en-US" sz="1200" dirty="0"/>
          </a:p>
        </p:txBody>
      </p:sp>
      <p:sp>
        <p:nvSpPr>
          <p:cNvPr id="10" name="Connector"/>
          <p:cNvSpPr/>
          <p:nvPr/>
        </p:nvSpPr>
        <p:spPr>
          <a:xfrm>
            <a:off x="6821424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Block"/>
          <p:cNvSpPr/>
          <p:nvPr/>
        </p:nvSpPr>
        <p:spPr>
          <a:xfrm>
            <a:off x="6986016" y="1234440"/>
            <a:ext cx="1490472" cy="1463040"/>
          </a:xfrm>
          <a:prstGeom prst="rect">
            <a:avLst/>
          </a:prstGeom>
          <a:solidFill>
            <a:srgbClr val="FBE5D6"/>
          </a:solidFill>
          <a:ln w="15875">
            <a:solidFill>
              <a:srgbClr val="C0000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Hardware 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Buzzer toggles every 300 ms; LCD "FALL? Btn=Cancel"</a:t>
            </a:r>
            <a:endParaRPr lang="en-US" sz="1200" dirty="0"/>
          </a:p>
        </p:txBody>
      </p:sp>
      <p:sp>
        <p:nvSpPr>
          <p:cNvPr id="12" name="Connector"/>
          <p:cNvSpPr/>
          <p:nvPr/>
        </p:nvSpPr>
        <p:spPr>
          <a:xfrm>
            <a:off x="8476488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3" name="Block"/>
          <p:cNvSpPr/>
          <p:nvPr/>
        </p:nvSpPr>
        <p:spPr>
          <a:xfrm>
            <a:off x="8641080" y="1234440"/>
            <a:ext cx="1490472" cy="1463040"/>
          </a:xfrm>
          <a:prstGeom prst="rect">
            <a:avLst/>
          </a:prstGeom>
          <a:solidFill>
            <a:srgbClr val="FBE5D6"/>
          </a:solidFill>
          <a:ln w="15875">
            <a:solidFill>
              <a:srgbClr val="C0000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Cancel countdown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s window; button press cancels and is logged</a:t>
            </a:r>
            <a:endParaRPr lang="en-US" sz="1200" dirty="0"/>
          </a:p>
        </p:txBody>
      </p:sp>
      <p:sp>
        <p:nvSpPr>
          <p:cNvPr id="14" name="Connector"/>
          <p:cNvSpPr/>
          <p:nvPr/>
        </p:nvSpPr>
        <p:spPr>
          <a:xfrm>
            <a:off x="10131552" y="1965960"/>
            <a:ext cx="164592" cy="91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5" name="Block"/>
          <p:cNvSpPr/>
          <p:nvPr/>
        </p:nvSpPr>
        <p:spPr>
          <a:xfrm>
            <a:off x="10296144" y="1234440"/>
            <a:ext cx="1490472" cy="1463040"/>
          </a:xfrm>
          <a:prstGeom prst="rect">
            <a:avLst/>
          </a:prstGeom>
          <a:solidFill>
            <a:srgbClr val="FBE5D6"/>
          </a:solidFill>
          <a:ln w="15875">
            <a:solidFill>
              <a:srgbClr val="C00000"/>
            </a:solidFill>
            <a:prstDash val="solid"/>
          </a:ln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Notification attempt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SMS to 2 numbers with room, RSSI, confidence</a:t>
            </a:r>
            <a:endParaRPr lang="en-US" sz="1200" dirty="0"/>
          </a:p>
        </p:txBody>
      </p:sp>
      <p:sp>
        <p:nvSpPr>
          <p:cNvPr id="16" name="Link label"/>
          <p:cNvSpPr txBox="1"/>
          <p:nvPr/>
        </p:nvSpPr>
        <p:spPr>
          <a:xfrm>
            <a:off x="201168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Laptop (Python)</a:t>
            </a:r>
            <a:endParaRPr lang="en-US" sz="1050" dirty="0"/>
          </a:p>
        </p:txBody>
      </p:sp>
      <p:sp>
        <p:nvSpPr>
          <p:cNvPr id="17" name="Link label"/>
          <p:cNvSpPr txBox="1"/>
          <p:nvPr/>
        </p:nvSpPr>
        <p:spPr>
          <a:xfrm>
            <a:off x="6995160" y="27432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1F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ESP32-S3 firmware</a:t>
            </a:r>
            <a:endParaRPr lang="en-US" sz="1050" dirty="0"/>
          </a:p>
        </p:txBody>
      </p:sp>
      <p:sp>
        <p:nvSpPr>
          <p:cNvPr id="18" name="Body"/>
          <p:cNvSpPr txBox="1"/>
          <p:nvPr/>
        </p:nvSpPr>
        <p:spPr>
          <a:xfrm>
            <a:off x="411480" y="3063240"/>
            <a:ext cx="6035040" cy="32004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Details from the firmware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While an alert is active, repeated PRED,FALL commands are ignored until a non-fall command arrives.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Button pressed in the window: buzzer off, FALL_CANCELLED_BUTTON written to ai_fall_log.csv, no SMS.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press: SMS "RAKSHA-NET FALL ALERT. Room: …, RSSI: …, AI confidence: …" to both numbers, if GSM was ready at boot.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send counts as successful when the modem reply contains +CMGS and OK. This shows the modem accepted it, not that the phone received it.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reply is saved in gsm_log.csv; a failed reply is shown on the LCD for 4 s.</a:t>
            </a:r>
            <a:endParaRPr lang="en-US" sz="1400" dirty="0"/>
          </a:p>
        </p:txBody>
      </p:sp>
      <p:pic>
        <p:nvPicPr>
          <p:cNvPr id="19" name="Photo lcd_fall_countdown.jpg" descr="LCD showing FALL? Btn=Cancel, SMS in 9 sec, next to predict_live.py outp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375" y="3063240"/>
            <a:ext cx="5041850" cy="2834640"/>
          </a:xfrm>
          <a:prstGeom prst="rect">
            <a:avLst/>
          </a:prstGeom>
        </p:spPr>
      </p:pic>
      <p:sp>
        <p:nvSpPr>
          <p:cNvPr id="20" name="Caption"/>
          <p:cNvSpPr txBox="1"/>
          <p:nvPr/>
        </p:nvSpPr>
        <p:spPr>
          <a:xfrm>
            <a:off x="6675120" y="5934456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run: LCD countdown with predict_live.py fall predictions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SENSOR GRAPH OUTPUTS</a:t>
            </a:r>
            <a:endParaRPr lang="en-US" sz="2600" dirty="0"/>
          </a:p>
        </p:txBody>
      </p:sp>
      <p:graphicFrame>
        <p:nvGraphicFramePr>
          <p:cNvPr id="3" name="Acceleration chart" descr=""/>
          <p:cNvGraphicFramePr/>
          <p:nvPr/>
        </p:nvGraphicFramePr>
        <p:xfrm>
          <a:off x="365760" y="118872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Gyroscope chart" descr=""/>
          <p:cNvGraphicFramePr/>
          <p:nvPr/>
        </p:nvGraphicFramePr>
        <p:xfrm>
          <a:off x="6172200" y="118872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Body"/>
          <p:cNvSpPr txBox="1"/>
          <p:nvPr/>
        </p:nvSpPr>
        <p:spPr>
          <a:xfrm>
            <a:off x="411480" y="4846320"/>
            <a:ext cx="11430000" cy="146304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Straight rows (815–854):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 0.93–0.96 g, ax 0.16–0.24 g, ay ≤ 0.08 g; gyro values stay within a few dps. The steady gyro offsets (gx ≈ −2.5, gz ≈ −5 dps) are sensor bias; the firmware does no calibration.</a:t>
            </a:r>
            <a:endParaRPr lang="en-US" sz="12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Fall rows (855–904):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 rises to 0.3–0.6 g and az drops to about 0.7–0.8 g as the board tilts; gx swings between −52 and +65 dps during the movement.</a:t>
            </a:r>
            <a:endParaRPr lang="en-US" sz="12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dataset stores no timestamps, so the x-axis is the row order. Plotted values are the recorded rows, unmodified.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1704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Saved model on the held-out test split (357 rows)</a:t>
            </a:r>
            <a:endParaRPr lang="en-US" sz="1400" dirty="0"/>
          </a:p>
        </p:txBody>
      </p:sp>
      <p:graphicFrame>
        <p:nvGraphicFramePr>
          <p:cNvPr id="13" name="Confusion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57607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\ Predicted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straight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fall (143)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136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straight (214)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210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Metric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26080"/>
          <a:ext cx="5760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F1-score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Support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fall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97.1%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95.1%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96.1%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143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straight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96.8%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98.1%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97.4%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214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96.9% (346 of 357 rows)</a:t>
                      </a:r>
                      <a:endParaRPr lang="en-US" sz="12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graphicFrame>
        <p:nvGraphicFramePr>
          <p:cNvPr id="6" name="Feature importance chart" descr=""/>
          <p:cNvGraphicFramePr/>
          <p:nvPr/>
        </p:nvGraphicFramePr>
        <p:xfrm>
          <a:off x="6400800" y="1188720"/>
          <a:ext cx="544068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7" name="Extra valid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617720"/>
          <a:ext cx="6492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00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Check beyond the random split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5-fold stratified cross-validation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96.6% ± 1.7% accuracy; fall F1 0.957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Later recordings (train first 75% of each class, test last 25%)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85.1% accuracy; every held-out fall detected (recall 1.000)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Confirmation rule on held-out upright rows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False alert episodes: 17 (k = 1), 2 (k = 3), 0 (k = 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Body"/>
          <p:cNvSpPr txBox="1"/>
          <p:nvPr/>
        </p:nvSpPr>
        <p:spPr>
          <a:xfrm>
            <a:off x="7086600" y="4572000"/>
            <a:ext cx="4754880" cy="17373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Errors: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falls called straight, 4 straights called fall.</a:t>
            </a:r>
            <a:endParaRPr lang="en-US" sz="11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az (30.0%) and ax (18.9%) lead: orientation separates the classes more than rotation rate.</a:t>
            </a:r>
            <a:endParaRPr lang="en-US" sz="11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the extra checks: 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neighbouring rows of one run land in both sets of a random split, so later recordings give a fairer test.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BLE ROOM LOCALIZATION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411480" y="1188720"/>
            <a:ext cx="5120640" cy="5074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Method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beacon boards advertise the names ROOM_Bedroom, ROOM_Hallroom and ROOM_Washroom.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beaconScanTask runs on core 0: active scan for 3 s, then a 0.5 s pause. Only names in this list are accepted.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strongest beacon with RSSI ≥ −95 dBm becomes the current room; if none, the room is Outside_Range.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 and RSSI appear on the LCD, in every sensor line on serial and in the alert SMS.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What it can and cannot tell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Room-level identification only: the nearest beacon, not x-y coordinates or distance.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RSSI changes with walls, body position and beacon placement, so near a doorway the room can switch.</a:t>
            </a:r>
            <a:endParaRPr lang="en-US" sz="1450" dirty="0"/>
          </a:p>
          <a:p>
            <a:pPr indent="0" marL="0">
              <a:spcBef>
                <a:spcPts val="700"/>
              </a:spcBef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Observed output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LCD: Bedroom −52 dBm, Hallroom −54 dBm, and Outside_Range when no beacon is in range.</a:t>
            </a:r>
            <a:endParaRPr lang="en-US" sz="14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Washroom logged at −48 to −59 dBm in ai_fall_log.csv; the alert SMS carries the room (Bedroom, −76 dBm).</a:t>
            </a:r>
            <a:endParaRPr lang="en-US" sz="1450" dirty="0"/>
          </a:p>
        </p:txBody>
      </p:sp>
      <p:pic>
        <p:nvPicPr>
          <p:cNvPr id="4" name="Photo lcd_room_bedroom.jpg" descr="Room: Bedroom, −52 dB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41072"/>
            <a:ext cx="3017520" cy="1524095"/>
          </a:xfrm>
          <a:prstGeom prst="rect">
            <a:avLst/>
          </a:prstGeom>
        </p:spPr>
      </p:pic>
      <p:sp>
        <p:nvSpPr>
          <p:cNvPr id="5" name="Caption"/>
          <p:cNvSpPr txBox="1"/>
          <p:nvPr/>
        </p:nvSpPr>
        <p:spPr>
          <a:xfrm>
            <a:off x="5669280" y="29017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Room: Bedroom, −52 dBm</a:t>
            </a:r>
            <a:endParaRPr lang="en-US" sz="1100" dirty="0"/>
          </a:p>
        </p:txBody>
      </p:sp>
      <p:pic>
        <p:nvPicPr>
          <p:cNvPr id="6" name="Photo lcd_room_hallroom.jpg" descr="Room: Hallroom, −54 dB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358798"/>
            <a:ext cx="3017520" cy="1488643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8823960" y="288401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Room: Hallroom, −54 dBm</a:t>
            </a:r>
            <a:endParaRPr lang="en-US" sz="1100" dirty="0"/>
          </a:p>
        </p:txBody>
      </p:sp>
      <p:pic>
        <p:nvPicPr>
          <p:cNvPr id="8" name="Photo lcd_outside_range.jpg" descr="Outside_Range: no beacon above −95 dB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580173"/>
            <a:ext cx="3017520" cy="1526455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5669280" y="5143203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Outside_Range: no beacon above −95 dBm</a:t>
            </a:r>
            <a:endParaRPr lang="en-US" sz="1100" dirty="0"/>
          </a:p>
        </p:txBody>
      </p:sp>
      <p:pic>
        <p:nvPicPr>
          <p:cNvPr id="10" name="Photo sms_received.jpg" descr="Alert SMS with room and RS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3697959"/>
            <a:ext cx="3017520" cy="1290883"/>
          </a:xfrm>
          <a:prstGeom prst="rect">
            <a:avLst/>
          </a:prstGeom>
        </p:spPr>
      </p:pic>
      <p:sp>
        <p:nvSpPr>
          <p:cNvPr id="11" name="Caption"/>
          <p:cNvSpPr txBox="1"/>
          <p:nvPr/>
        </p:nvSpPr>
        <p:spPr>
          <a:xfrm>
            <a:off x="8823960" y="5025417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Alert SMS with room and RSSI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PROTOTYPE AND DASHBOARD</a:t>
            </a:r>
            <a:endParaRPr lang="en-US" sz="2600" dirty="0"/>
          </a:p>
        </p:txBody>
      </p:sp>
      <p:pic>
        <p:nvPicPr>
          <p:cNvPr id="3" name="Photo terminal_serial_predict.jpg" descr="Hardware run: serial_debug.py (left) and predict_live.py (right) with class, confidence, fall_count, comm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306" y="1143000"/>
            <a:ext cx="3328467" cy="2103120"/>
          </a:xfrm>
          <a:prstGeom prst="rect">
            <a:avLst/>
          </a:prstGeom>
        </p:spPr>
      </p:pic>
      <p:sp>
        <p:nvSpPr>
          <p:cNvPr id="4" name="Caption"/>
          <p:cNvSpPr txBox="1"/>
          <p:nvPr/>
        </p:nvSpPr>
        <p:spPr>
          <a:xfrm>
            <a:off x="365760" y="327355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run: serial_debug.py (left) and predict_live.py (right) with class, confidence, fall_count, command</a:t>
            </a:r>
            <a:endParaRPr lang="en-US" sz="1100" dirty="0"/>
          </a:p>
        </p:txBody>
      </p:sp>
      <p:pic>
        <p:nvPicPr>
          <p:cNvPr id="5" name="Photo dash_live_alert.jpg" descr="Dashboard, Live monitoring: readings, prediction, fall counter and alert b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701" y="1143000"/>
            <a:ext cx="4544557" cy="210312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6172200" y="327355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Dashboard, Live monitoring: readings, prediction, fall counter and alert band</a:t>
            </a:r>
            <a:endParaRPr lang="en-US" sz="1100" dirty="0"/>
          </a:p>
        </p:txBody>
      </p:sp>
      <p:pic>
        <p:nvPicPr>
          <p:cNvPr id="7" name="Photo dash_fall_countdown.jpg" descr="Dashboard, Fall detection: alert stages and 12 s cancel countdow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09" y="3611880"/>
            <a:ext cx="4128262" cy="2103120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365760" y="574243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Dashboard, Fall detection: alert stages and 12 s cancel countdown</a:t>
            </a:r>
            <a:endParaRPr lang="en-US" sz="1100" dirty="0"/>
          </a:p>
        </p:txBody>
      </p:sp>
      <p:pic>
        <p:nvPicPr>
          <p:cNvPr id="9" name="Photo dash_live_charts.jpg" descr="Dashboard: accelerometer, gyroscope and P(fall) charts with serial conso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363" y="3611880"/>
            <a:ext cx="3551235" cy="2103120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6172200" y="5742432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Dashboard: accelerometer, gyroscope and P(fall) charts with serial console</a:t>
            </a:r>
            <a:endParaRPr lang="en-US" sz="1100" dirty="0"/>
          </a:p>
        </p:txBody>
      </p:sp>
      <p:sp>
        <p:nvSpPr>
          <p:cNvPr id="11" name="Caption"/>
          <p:cNvSpPr txBox="1"/>
          <p:nvPr/>
        </p:nvSpPr>
        <p:spPr>
          <a:xfrm>
            <a:off x="365760" y="60533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screenshots taken in demo replay mode (recorded fall_dataset.csv rows, board simulated, no SMS). The same pages show live data when the laptop is connected to the ESP32.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VALIDATION</a:t>
            </a:r>
            <a:endParaRPr lang="en-US" sz="26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114574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696712"/>
                <a:gridCol w="246888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Function tested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Evidence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Result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MPU6500 readings over serial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serial_debug.py output: ACC/GYRO and MLDATA lines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Live ML classification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predict_live.py output with class, confidence and PRED command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 on held-out data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357-row test split, per sample: 96.9% accuracy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Fall confirmation and LCD countdown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LCD "FALL? Btn=Cancel, SMS in 9 sec" after consecutive fall predictions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GSM alert SMS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SMS received: Room Bedroom, RSSI −76, AI confidence 0.95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Second SMS recipient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Alert received on the second number (team hardware test)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room identification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LCD: Bedroom −52, Hallroom −54, Outside_Range; Washroom −48 to −59 dBm in ai_fall_log.csv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Cancel button and buzzer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Button press stops buzzer and SMS within the 12 s window (team hardware test)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MicroSD logging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ai_fall_log.csv: over 100 alert entries; gsm_log.csv: +CMGS 40–42 with OK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Serial link over long runs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Continuous USB serial during hardware runs (team hardware test)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Repeated fall trials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Held-out falls all detected; false episodes 17 → 2 (k = 3) → 0 (k = 5)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software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 automated tests; same PRED bytes as predict_live.py; demo replay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843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Validated and passed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Power consumption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measured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tested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AND IMPROVEMENTS</a:t>
            </a:r>
            <a:endParaRPr lang="en-US" sz="2600" dirty="0"/>
          </a:p>
        </p:txBody>
      </p:sp>
      <p:graphicFrame>
        <p:nvGraphicFramePr>
          <p:cNvPr id="1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73609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880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Challenge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Effect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we changed (in the code)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MLDATA was printed with every log message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Classifier received repeated or all-zero samples as new data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MLDATA now printed only after a real IMU read (logSensorData)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Single-sample false triggers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Any odd reading could start an alert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 consecutive fall results with confidence ≥ 0.70, plus a 12 s cancel window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Invalid readings or stopped stream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Wrong predictions when the sensor is not read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Samples below 0.20 g ignored; PRED,CHECK,0.00 after 3 s without data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SIM800L baud rate not fixed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AT response at the expected speed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Auto-detect over 6 baud rates; LCD shows "GSM Error, Check SIM/PWR"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SMS wait blocked the loop for the full timeout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Slow alerts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readGSMUntil() returns on OK or ERROR; failure reply shown on LCD and logged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BLE scanning is slow (3 s)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 loop and LCD would stall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Scan runs as a FreeRTOS task on core 0; room data guarded by a critical section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Body"/>
          <p:cNvSpPr txBox="1"/>
          <p:nvPr/>
        </p:nvSpPr>
        <p:spPr>
          <a:xfrm>
            <a:off x="7909560" y="1188720"/>
            <a:ext cx="3931920" cy="35661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Added for Review 3</a:t>
            </a:r>
            <a:endParaRPr lang="en-US" sz="13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Monitoring dashboard: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serial view, fall stages, room, ML results, event log and CSV export; demo replay when hardware is absent.</a:t>
            </a:r>
            <a:endParaRPr lang="en-US" sz="13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Verification: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tests confirm the dashboard sends the same commands as predict_live.py.</a:t>
            </a:r>
            <a:endParaRPr lang="en-US" sz="135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Firmware option: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event-reporting patch that prints alert and SMS status on serial (compiled, not yet flashed).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SCOPE</a:t>
            </a:r>
            <a:endParaRPr lang="en-US" sz="2600" dirty="0"/>
          </a:p>
        </p:txBody>
      </p:sp>
      <p:sp>
        <p:nvSpPr>
          <p:cNvPr id="3" name="Body"/>
          <p:cNvSpPr txBox="1"/>
          <p:nvPr/>
        </p:nvSpPr>
        <p:spPr>
          <a:xfrm>
            <a:off x="365760" y="1188720"/>
            <a:ext cx="3703320" cy="4251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Conclusion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 working bench prototype: the ESP32-S3 streams MPU6500 data, the laptop classifies each sample and the board raises a buzzer and LCD alert with a 12 s cancel window.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functional tests passed in hardware runs: live predictions, LCD countdown, cancel button, room detection, SMS to both numbers and SD logging.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96.9% on the random test split, 96.6% in 5-fold cross-validation; every fall caught on later recordings.</a:t>
            </a:r>
            <a:endParaRPr lang="en-US" sz="1400" dirty="0"/>
          </a:p>
        </p:txBody>
      </p:sp>
      <p:sp>
        <p:nvSpPr>
          <p:cNvPr id="4" name="Body"/>
          <p:cNvSpPr txBox="1"/>
          <p:nvPr/>
        </p:nvSpPr>
        <p:spPr>
          <a:xfrm>
            <a:off x="4224528" y="1188720"/>
            <a:ext cx="3703320" cy="4251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Limitations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from one volunteer and a teddy bear only.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samples at about 1 Hz, ±2 g range.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on the laptop over USB; SIM800L on the board supply.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consumption not measured; room-level location only.</a:t>
            </a:r>
            <a:endParaRPr lang="en-US" sz="1400" dirty="0"/>
          </a:p>
        </p:txBody>
      </p:sp>
      <p:sp>
        <p:nvSpPr>
          <p:cNvPr id="5" name="Body"/>
          <p:cNvSpPr txBox="1"/>
          <p:nvPr/>
        </p:nvSpPr>
        <p:spPr>
          <a:xfrm>
            <a:off x="8092440" y="1188720"/>
            <a:ext cx="3703320" cy="425196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Future Scope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Sample at 50 Hz or more and classify short windows.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the accelerometer range beyond ±2 g; remove the gyroscope offset at start-up.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 a smaller forest on the ESP32-S3; give the SIM800L its own supply.</a:t>
            </a:r>
            <a:endParaRPr lang="en-US" sz="1400" dirty="0"/>
          </a:p>
          <a:p>
            <a:pPr lvl="1" marL="4064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event-labelled data from several wearers; check room accuracy in all rooms.</a:t>
            </a:r>
            <a:endParaRPr lang="en-US" sz="1400" dirty="0"/>
          </a:p>
        </p:txBody>
      </p:sp>
      <p:sp>
        <p:nvSpPr>
          <p:cNvPr id="6" name="Summary line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DEEBF7"/>
          </a:solidFill>
          <a:ln w="12700">
            <a:solidFill>
              <a:srgbClr val="9DC3E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MPU6500 sensing + Random Forest classification + BLE room identification + SMS after a 12 s cancel window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2057400" y="219456"/>
            <a:ext cx="7635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AND SUPPORTING LINKS</a:t>
            </a:r>
            <a:endParaRPr lang="en-US" sz="2600" dirty="0"/>
          </a:p>
        </p:txBody>
      </p:sp>
      <p:sp>
        <p:nvSpPr>
          <p:cNvPr id="3" name="References"/>
          <p:cNvSpPr txBox="1"/>
          <p:nvPr/>
        </p:nvSpPr>
        <p:spPr>
          <a:xfrm>
            <a:off x="411480" y="1170432"/>
            <a:ext cx="11384280" cy="2514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World Health Organization, "Falls," Fact sheet, 21 Oct. 2026. </a:t>
            </a:r>
            <a:pPr indent="0" marL="0">
              <a:spcAft>
                <a:spcPts val="500"/>
              </a:spcAft>
              <a:buNone/>
            </a:pPr>
            <a:r>
              <a:rPr lang="en-US" sz="1300" u="sng" dirty="0">
                <a:solidFill>
                  <a:srgbClr val="0563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who.int/news-room/fact-sheets/detail/falls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Igual, C. Medrano and I. Plaza, "Challenges, issues and trends in fall detection systems," BioMedical Engineering OnLine, vol. 12, art. 66, 2013, </a:t>
            </a:r>
            <a:pPr indent="0" marL="0">
              <a:spcAft>
                <a:spcPts val="500"/>
              </a:spcAft>
              <a:buNone/>
            </a:pPr>
            <a:r>
              <a:rPr lang="en-US" sz="1300" u="sng" dirty="0">
                <a:solidFill>
                  <a:srgbClr val="0563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doi:10.1186/1475-925X-12-66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L. Breiman, "Random Forests," Machine Learning, vol. 45, no. 1, pp. 5–32, 2001, </a:t>
            </a:r>
            <a:pPr indent="0" marL="0">
              <a:spcAft>
                <a:spcPts val="500"/>
              </a:spcAft>
              <a:buNone/>
            </a:pPr>
            <a:r>
              <a:rPr lang="en-US" sz="1300" u="sng" dirty="0">
                <a:solidFill>
                  <a:srgbClr val="0563C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doi:10.1023/A:1010933404324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F. Pedregosa et al., "Scikit-learn: Machine Learning in Python," Journal of Machine Learning Research, vol. 12, pp. 2825–2830, 2011.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TDK InvenSense, MPU-6500 Product Specification.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SIMCom Wireless Solutions, SIM800 Series AT Command Manual.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[7] 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Espressif Systems, ESP32-S3 Series Datasheet.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Supporting links</a:t>
            </a:r>
            <a:endParaRPr lang="en-US" sz="14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41648"/>
          <a:ext cx="1145743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348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Item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Link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GitHub repository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https://github.com/LakshmananParthasarathySubbiah/RAKSHA-NET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Demonstration video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https://drive.google.com/file/d/1NSicNeXJ_TEGcQyVMQZT8Lcgb-owuh-1/view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(online demo replay)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  <a:hlinkClick r:id="rId6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https://raksha-net-da3-vitc.vercel.app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IEEE project report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  <a:hlinkClick r:id="rId7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https://docs.google.com/document/d/1tkphE-E_hh2wXWzOzW7m_2iI8aC8j3y8QR7x9MrlkrM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References and proofs document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u="sng" dirty="0">
                          <a:solidFill>
                            <a:srgbClr val="0563C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  <a:hlinkClick r:id="rId8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https://docs.google.com/document/d/1VNs3Jc9mYc-b4mMi58AH8aHW2Y_WUNgGyTsJXDkRRuY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KSHA-NET DA3">
  <a:themeElements>
    <a:clrScheme name="RAKSHA-NET DA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70C0"/>
      </a:accent1>
      <a:accent2>
        <a:srgbClr val="ED7D31"/>
      </a:accent2>
      <a:accent3>
        <a:srgbClr val="00B050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RAKSHA-NET DA3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RAKSHA-NET DA3 Review 3</dc:title>
  <dc:subject>PptxGenJS Presentation</dc:subject>
  <dc:creator>23BAI1288, 24BCE1712, 24BCE1857</dc:creator>
  <cp:lastModifiedBy>23BAI1288, 24BCE1712, 24BCE1857</cp:lastModifiedBy>
  <cp:revision>1</cp:revision>
  <dcterms:created xsi:type="dcterms:W3CDTF">2026-10-25T17:55:07Z</dcterms:created>
  <dcterms:modified xsi:type="dcterms:W3CDTF">2026-10-25T17:55:07Z</dcterms:modified>
</cp:coreProperties>
</file>